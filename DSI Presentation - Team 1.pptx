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Lst>
  <p:sldSz cy="5143500" cx="9144000"/>
  <p:notesSz cx="6858000" cy="9144000"/>
  <p:embeddedFontLst>
    <p:embeddedFont>
      <p:font typeface="Play"/>
      <p:regular r:id="rId15"/>
      <p:bold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font" Target="fonts/Play-regular.fntdata"/><Relationship Id="rId14" Type="http://schemas.openxmlformats.org/officeDocument/2006/relationships/slide" Target="slides/slide8.xml"/><Relationship Id="rId16" Type="http://schemas.openxmlformats.org/officeDocument/2006/relationships/font" Target="fonts/Play-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dab2de227_2_76: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g3cdab2de227_2_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cdab2de227_2_2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3cdab2de227_2_2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Arial"/>
              <a:buNone/>
            </a:pPr>
            <a:r>
              <a:rPr lang="en"/>
              <a:t>BV: </a:t>
            </a:r>
            <a:r>
              <a:rPr i="0" lang="en" sz="1200"/>
              <a:t>Scalable system adaptable to evolving fraud patterns using ongoing model retraining.</a:t>
            </a:r>
            <a:endParaRPr sz="1200"/>
          </a:p>
          <a:p>
            <a:pPr indent="0" lvl="0" marL="0" rtl="0" algn="l">
              <a:spcBef>
                <a:spcPts val="0"/>
              </a:spcBef>
              <a:spcAft>
                <a:spcPts val="0"/>
              </a:spcAft>
              <a:buNone/>
            </a:pPr>
            <a:r>
              <a:t/>
            </a:r>
            <a:endParaRPr/>
          </a:p>
        </p:txBody>
      </p:sp>
      <p:sp>
        <p:nvSpPr>
          <p:cNvPr id="316" name="Google Shape;316;g3cdab2de227_2_2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cdab2de227_2_274: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g3cdab2de227_2_2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cdab2de227_2_2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g3cdab2de227_2_2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Puru</a:t>
            </a:r>
            <a:endParaRPr/>
          </a:p>
        </p:txBody>
      </p:sp>
      <p:sp>
        <p:nvSpPr>
          <p:cNvPr id="341" name="Google Shape;341;g3cdab2de227_2_2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dab2de227_2_29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g3cdab2de227_2_2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cdab2de227_2_31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g3cdab2de227_2_3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dab2de227_2_324: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cdab2de227_2_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cdab2de227_2_336: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g3cdab2de227_2_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sp>
        <p:nvSpPr>
          <p:cNvPr id="58" name="Google Shape;58;p14"/>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9" name="Google Shape;59;p14"/>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60" name="Google Shape;60;p1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2" name="Google Shape;62;p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3" name="Shape 63"/>
        <p:cNvGrpSpPr/>
        <p:nvPr/>
      </p:nvGrpSpPr>
      <p:grpSpPr>
        <a:xfrm>
          <a:off x="0" y="0"/>
          <a:ext cx="0" cy="0"/>
          <a:chOff x="0" y="0"/>
          <a:chExt cx="0" cy="0"/>
        </a:xfrm>
      </p:grpSpPr>
      <p:sp>
        <p:nvSpPr>
          <p:cNvPr id="64" name="Google Shape;64;p15"/>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5" name="Google Shape;65;p1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6" name="Google Shape;66;p15"/>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8" name="Google Shape;68;p1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9" name="Shape 69"/>
        <p:cNvGrpSpPr/>
        <p:nvPr/>
      </p:nvGrpSpPr>
      <p:grpSpPr>
        <a:xfrm>
          <a:off x="0" y="0"/>
          <a:ext cx="0" cy="0"/>
          <a:chOff x="0" y="0"/>
          <a:chExt cx="0" cy="0"/>
        </a:xfrm>
      </p:grpSpPr>
      <p:sp>
        <p:nvSpPr>
          <p:cNvPr id="70" name="Google Shape;70;p16"/>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1" name="Google Shape;71;p16"/>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757575"/>
              </a:buClr>
              <a:buSzPts val="1800"/>
              <a:buNone/>
              <a:defRPr sz="1800">
                <a:solidFill>
                  <a:srgbClr val="757575"/>
                </a:solidFill>
              </a:defRPr>
            </a:lvl1pPr>
            <a:lvl2pPr indent="-228600" lvl="1" marL="914400" algn="l">
              <a:lnSpc>
                <a:spcPct val="90000"/>
              </a:lnSpc>
              <a:spcBef>
                <a:spcPts val="400"/>
              </a:spcBef>
              <a:spcAft>
                <a:spcPts val="0"/>
              </a:spcAft>
              <a:buClr>
                <a:srgbClr val="757575"/>
              </a:buClr>
              <a:buSzPts val="1500"/>
              <a:buNone/>
              <a:defRPr sz="1500">
                <a:solidFill>
                  <a:srgbClr val="757575"/>
                </a:solidFill>
              </a:defRPr>
            </a:lvl2pPr>
            <a:lvl3pPr indent="-228600" lvl="2" marL="1371600" algn="l">
              <a:lnSpc>
                <a:spcPct val="90000"/>
              </a:lnSpc>
              <a:spcBef>
                <a:spcPts val="400"/>
              </a:spcBef>
              <a:spcAft>
                <a:spcPts val="0"/>
              </a:spcAft>
              <a:buClr>
                <a:srgbClr val="757575"/>
              </a:buClr>
              <a:buSzPts val="1400"/>
              <a:buNone/>
              <a:defRPr sz="1400">
                <a:solidFill>
                  <a:srgbClr val="757575"/>
                </a:solidFill>
              </a:defRPr>
            </a:lvl3pPr>
            <a:lvl4pPr indent="-228600" lvl="3" marL="1828800" algn="l">
              <a:lnSpc>
                <a:spcPct val="90000"/>
              </a:lnSpc>
              <a:spcBef>
                <a:spcPts val="400"/>
              </a:spcBef>
              <a:spcAft>
                <a:spcPts val="0"/>
              </a:spcAft>
              <a:buClr>
                <a:srgbClr val="757575"/>
              </a:buClr>
              <a:buSzPts val="1200"/>
              <a:buNone/>
              <a:defRPr sz="1200">
                <a:solidFill>
                  <a:srgbClr val="757575"/>
                </a:solidFill>
              </a:defRPr>
            </a:lvl4pPr>
            <a:lvl5pPr indent="-228600" lvl="4" marL="2286000" algn="l">
              <a:lnSpc>
                <a:spcPct val="90000"/>
              </a:lnSpc>
              <a:spcBef>
                <a:spcPts val="400"/>
              </a:spcBef>
              <a:spcAft>
                <a:spcPts val="0"/>
              </a:spcAft>
              <a:buClr>
                <a:srgbClr val="757575"/>
              </a:buClr>
              <a:buSzPts val="1200"/>
              <a:buNone/>
              <a:defRPr sz="1200">
                <a:solidFill>
                  <a:srgbClr val="757575"/>
                </a:solidFill>
              </a:defRPr>
            </a:lvl5pPr>
            <a:lvl6pPr indent="-228600" lvl="5" marL="2743200" algn="l">
              <a:lnSpc>
                <a:spcPct val="90000"/>
              </a:lnSpc>
              <a:spcBef>
                <a:spcPts val="400"/>
              </a:spcBef>
              <a:spcAft>
                <a:spcPts val="0"/>
              </a:spcAft>
              <a:buClr>
                <a:srgbClr val="757575"/>
              </a:buClr>
              <a:buSzPts val="1200"/>
              <a:buNone/>
              <a:defRPr sz="1200">
                <a:solidFill>
                  <a:srgbClr val="757575"/>
                </a:solidFill>
              </a:defRPr>
            </a:lvl6pPr>
            <a:lvl7pPr indent="-228600" lvl="6" marL="3200400" algn="l">
              <a:lnSpc>
                <a:spcPct val="90000"/>
              </a:lnSpc>
              <a:spcBef>
                <a:spcPts val="400"/>
              </a:spcBef>
              <a:spcAft>
                <a:spcPts val="0"/>
              </a:spcAft>
              <a:buClr>
                <a:srgbClr val="757575"/>
              </a:buClr>
              <a:buSzPts val="1200"/>
              <a:buNone/>
              <a:defRPr sz="1200">
                <a:solidFill>
                  <a:srgbClr val="757575"/>
                </a:solidFill>
              </a:defRPr>
            </a:lvl7pPr>
            <a:lvl8pPr indent="-228600" lvl="7" marL="3657600" algn="l">
              <a:lnSpc>
                <a:spcPct val="90000"/>
              </a:lnSpc>
              <a:spcBef>
                <a:spcPts val="400"/>
              </a:spcBef>
              <a:spcAft>
                <a:spcPts val="0"/>
              </a:spcAft>
              <a:buClr>
                <a:srgbClr val="757575"/>
              </a:buClr>
              <a:buSzPts val="1200"/>
              <a:buNone/>
              <a:defRPr sz="1200">
                <a:solidFill>
                  <a:srgbClr val="757575"/>
                </a:solidFill>
              </a:defRPr>
            </a:lvl8pPr>
            <a:lvl9pPr indent="-228600" lvl="8" marL="4114800" algn="l">
              <a:lnSpc>
                <a:spcPct val="90000"/>
              </a:lnSpc>
              <a:spcBef>
                <a:spcPts val="400"/>
              </a:spcBef>
              <a:spcAft>
                <a:spcPts val="0"/>
              </a:spcAft>
              <a:buClr>
                <a:srgbClr val="757575"/>
              </a:buClr>
              <a:buSzPts val="1200"/>
              <a:buNone/>
              <a:defRPr sz="1200">
                <a:solidFill>
                  <a:srgbClr val="757575"/>
                </a:solidFill>
              </a:defRPr>
            </a:lvl9pPr>
          </a:lstStyle>
          <a:p/>
        </p:txBody>
      </p:sp>
      <p:sp>
        <p:nvSpPr>
          <p:cNvPr id="72" name="Google Shape;72;p1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4" name="Google Shape;74;p16"/>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7"/>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7" name="Google Shape;77;p17"/>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8" name="Google Shape;78;p17"/>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9" name="Google Shape;79;p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1" name="Google Shape;81;p17"/>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2" name="Shape 82"/>
        <p:cNvGrpSpPr/>
        <p:nvPr/>
      </p:nvGrpSpPr>
      <p:grpSpPr>
        <a:xfrm>
          <a:off x="0" y="0"/>
          <a:ext cx="0" cy="0"/>
          <a:chOff x="0" y="0"/>
          <a:chExt cx="0" cy="0"/>
        </a:xfrm>
      </p:grpSpPr>
      <p:sp>
        <p:nvSpPr>
          <p:cNvPr id="83" name="Google Shape;83;p18"/>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4" name="Google Shape;84;p18"/>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5" name="Google Shape;85;p18"/>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6" name="Google Shape;86;p1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7" name="Google Shape;87;p18"/>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8" name="Google Shape;88;p18"/>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0" name="Google Shape;90;p1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1" name="Shape 91"/>
        <p:cNvGrpSpPr/>
        <p:nvPr/>
      </p:nvGrpSpPr>
      <p:grpSpPr>
        <a:xfrm>
          <a:off x="0" y="0"/>
          <a:ext cx="0" cy="0"/>
          <a:chOff x="0" y="0"/>
          <a:chExt cx="0" cy="0"/>
        </a:xfrm>
      </p:grpSpPr>
      <p:sp>
        <p:nvSpPr>
          <p:cNvPr id="92" name="Google Shape;92;p1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3" name="Google Shape;93;p19"/>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5" name="Google Shape;95;p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6" name="Shape 96"/>
        <p:cNvGrpSpPr/>
        <p:nvPr/>
      </p:nvGrpSpPr>
      <p:grpSpPr>
        <a:xfrm>
          <a:off x="0" y="0"/>
          <a:ext cx="0" cy="0"/>
          <a:chOff x="0" y="0"/>
          <a:chExt cx="0" cy="0"/>
        </a:xfrm>
      </p:grpSpPr>
      <p:sp>
        <p:nvSpPr>
          <p:cNvPr id="97" name="Google Shape;97;p2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9" name="Google Shape;99;p20"/>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0" name="Shape 100"/>
        <p:cNvGrpSpPr/>
        <p:nvPr/>
      </p:nvGrpSpPr>
      <p:grpSpPr>
        <a:xfrm>
          <a:off x="0" y="0"/>
          <a:ext cx="0" cy="0"/>
          <a:chOff x="0" y="0"/>
          <a:chExt cx="0" cy="0"/>
        </a:xfrm>
      </p:grpSpPr>
      <p:sp>
        <p:nvSpPr>
          <p:cNvPr id="101" name="Google Shape;101;p21"/>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2" name="Google Shape;102;p21"/>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03" name="Google Shape;103;p21"/>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04" name="Google Shape;104;p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6" name="Google Shape;106;p2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9" name="Google Shape;109;p22"/>
          <p:cNvSpPr/>
          <p:nvPr>
            <p:ph idx="2" type="pic"/>
          </p:nvPr>
        </p:nvSpPr>
        <p:spPr>
          <a:xfrm>
            <a:off x="3887391" y="740569"/>
            <a:ext cx="4629150" cy="3655219"/>
          </a:xfrm>
          <a:prstGeom prst="rect">
            <a:avLst/>
          </a:prstGeom>
          <a:noFill/>
          <a:ln>
            <a:noFill/>
          </a:ln>
        </p:spPr>
      </p:sp>
      <p:sp>
        <p:nvSpPr>
          <p:cNvPr id="110" name="Google Shape;110;p22"/>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1" name="Google Shape;111;p2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3" name="Google Shape;113;p2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4" name="Shape 114"/>
        <p:cNvGrpSpPr/>
        <p:nvPr/>
      </p:nvGrpSpPr>
      <p:grpSpPr>
        <a:xfrm>
          <a:off x="0" y="0"/>
          <a:ext cx="0" cy="0"/>
          <a:chOff x="0" y="0"/>
          <a:chExt cx="0" cy="0"/>
        </a:xfrm>
      </p:grpSpPr>
      <p:sp>
        <p:nvSpPr>
          <p:cNvPr id="115" name="Google Shape;115;p23"/>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6" name="Google Shape;116;p23"/>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17" name="Google Shape;117;p2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9" name="Google Shape;119;p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0" name="Shape 120"/>
        <p:cNvGrpSpPr/>
        <p:nvPr/>
      </p:nvGrpSpPr>
      <p:grpSpPr>
        <a:xfrm>
          <a:off x="0" y="0"/>
          <a:ext cx="0" cy="0"/>
          <a:chOff x="0" y="0"/>
          <a:chExt cx="0" cy="0"/>
        </a:xfrm>
      </p:grpSpPr>
      <p:sp>
        <p:nvSpPr>
          <p:cNvPr id="121" name="Google Shape;121;p24"/>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2" name="Google Shape;122;p24"/>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3" name="Google Shape;123;p2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5" name="Google Shape;125;p2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53" name="Google Shape;53;p1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757575"/>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54" name="Google Shape;54;p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757575"/>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55" name="Google Shape;55;p1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757575"/>
                </a:solidFill>
                <a:latin typeface="Arial"/>
                <a:ea typeface="Arial"/>
                <a:cs typeface="Arial"/>
                <a:sym typeface="Arial"/>
              </a:defRPr>
            </a:lvl1pPr>
            <a:lvl2pPr indent="0" lvl="1" marL="0" marR="0" rtl="0" algn="r">
              <a:spcBef>
                <a:spcPts val="0"/>
              </a:spcBef>
              <a:buNone/>
              <a:defRPr b="0" i="0" sz="900" u="none" cap="none" strike="noStrike">
                <a:solidFill>
                  <a:srgbClr val="757575"/>
                </a:solidFill>
                <a:latin typeface="Arial"/>
                <a:ea typeface="Arial"/>
                <a:cs typeface="Arial"/>
                <a:sym typeface="Arial"/>
              </a:defRPr>
            </a:lvl2pPr>
            <a:lvl3pPr indent="0" lvl="2" marL="0" marR="0" rtl="0" algn="r">
              <a:spcBef>
                <a:spcPts val="0"/>
              </a:spcBef>
              <a:buNone/>
              <a:defRPr b="0" i="0" sz="900" u="none" cap="none" strike="noStrike">
                <a:solidFill>
                  <a:srgbClr val="757575"/>
                </a:solidFill>
                <a:latin typeface="Arial"/>
                <a:ea typeface="Arial"/>
                <a:cs typeface="Arial"/>
                <a:sym typeface="Arial"/>
              </a:defRPr>
            </a:lvl3pPr>
            <a:lvl4pPr indent="0" lvl="3" marL="0" marR="0" rtl="0" algn="r">
              <a:spcBef>
                <a:spcPts val="0"/>
              </a:spcBef>
              <a:buNone/>
              <a:defRPr b="0" i="0" sz="900" u="none" cap="none" strike="noStrike">
                <a:solidFill>
                  <a:srgbClr val="757575"/>
                </a:solidFill>
                <a:latin typeface="Arial"/>
                <a:ea typeface="Arial"/>
                <a:cs typeface="Arial"/>
                <a:sym typeface="Arial"/>
              </a:defRPr>
            </a:lvl4pPr>
            <a:lvl5pPr indent="0" lvl="4" marL="0" marR="0" rtl="0" algn="r">
              <a:spcBef>
                <a:spcPts val="0"/>
              </a:spcBef>
              <a:buNone/>
              <a:defRPr b="0" i="0" sz="900" u="none" cap="none" strike="noStrike">
                <a:solidFill>
                  <a:srgbClr val="757575"/>
                </a:solidFill>
                <a:latin typeface="Arial"/>
                <a:ea typeface="Arial"/>
                <a:cs typeface="Arial"/>
                <a:sym typeface="Arial"/>
              </a:defRPr>
            </a:lvl5pPr>
            <a:lvl6pPr indent="0" lvl="5" marL="0" marR="0" rtl="0" algn="r">
              <a:spcBef>
                <a:spcPts val="0"/>
              </a:spcBef>
              <a:buNone/>
              <a:defRPr b="0" i="0" sz="900" u="none" cap="none" strike="noStrike">
                <a:solidFill>
                  <a:srgbClr val="757575"/>
                </a:solidFill>
                <a:latin typeface="Arial"/>
                <a:ea typeface="Arial"/>
                <a:cs typeface="Arial"/>
                <a:sym typeface="Arial"/>
              </a:defRPr>
            </a:lvl6pPr>
            <a:lvl7pPr indent="0" lvl="6" marL="0" marR="0" rtl="0" algn="r">
              <a:spcBef>
                <a:spcPts val="0"/>
              </a:spcBef>
              <a:buNone/>
              <a:defRPr b="0" i="0" sz="900" u="none" cap="none" strike="noStrike">
                <a:solidFill>
                  <a:srgbClr val="757575"/>
                </a:solidFill>
                <a:latin typeface="Arial"/>
                <a:ea typeface="Arial"/>
                <a:cs typeface="Arial"/>
                <a:sym typeface="Arial"/>
              </a:defRPr>
            </a:lvl7pPr>
            <a:lvl8pPr indent="0" lvl="7" marL="0" marR="0" rtl="0" algn="r">
              <a:spcBef>
                <a:spcPts val="0"/>
              </a:spcBef>
              <a:buNone/>
              <a:defRPr b="0" i="0" sz="900" u="none" cap="none" strike="noStrike">
                <a:solidFill>
                  <a:srgbClr val="757575"/>
                </a:solidFill>
                <a:latin typeface="Arial"/>
                <a:ea typeface="Arial"/>
                <a:cs typeface="Arial"/>
                <a:sym typeface="Arial"/>
              </a:defRPr>
            </a:lvl8pPr>
            <a:lvl9pPr indent="0" lvl="8" marL="0" marR="0" rtl="0" algn="r">
              <a:spcBef>
                <a:spcPts val="0"/>
              </a:spcBef>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56" name="Google Shape;56;p13"/>
          <p:cNvSpPr txBox="1"/>
          <p:nvPr/>
        </p:nvSpPr>
        <p:spPr>
          <a:xfrm>
            <a:off x="4310063" y="4981575"/>
            <a:ext cx="542925" cy="11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 sz="800" u="none" cap="none" strike="noStrike">
                <a:solidFill>
                  <a:srgbClr val="000000"/>
                </a:solidFill>
                <a:latin typeface="Arial"/>
                <a:ea typeface="Arial"/>
                <a:cs typeface="Arial"/>
                <a:sym typeface="Arial"/>
              </a:rPr>
              <a:t>OLG Internal</a:t>
            </a:r>
            <a:endParaRPr sz="1100"/>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9" name="Shape 129"/>
        <p:cNvGrpSpPr/>
        <p:nvPr/>
      </p:nvGrpSpPr>
      <p:grpSpPr>
        <a:xfrm>
          <a:off x="0" y="0"/>
          <a:ext cx="0" cy="0"/>
          <a:chOff x="0" y="0"/>
          <a:chExt cx="0" cy="0"/>
        </a:xfrm>
      </p:grpSpPr>
      <p:sp>
        <p:nvSpPr>
          <p:cNvPr id="130" name="Google Shape;130;p25"/>
          <p:cNvSpPr/>
          <p:nvPr/>
        </p:nvSpPr>
        <p:spPr>
          <a:xfrm>
            <a:off x="0" y="0"/>
            <a:ext cx="9144000" cy="5143500"/>
          </a:xfrm>
          <a:prstGeom prst="rect">
            <a:avLst/>
          </a:prstGeom>
          <a:solidFill>
            <a:schemeClr val="dk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1" name="Google Shape;131;p25"/>
          <p:cNvSpPr/>
          <p:nvPr/>
        </p:nvSpPr>
        <p:spPr>
          <a:xfrm>
            <a:off x="2357088" y="189855"/>
            <a:ext cx="4638416" cy="4638416"/>
          </a:xfrm>
          <a:prstGeom prst="ellipse">
            <a:avLst/>
          </a:prstGeom>
          <a:solidFill>
            <a:srgbClr val="FFFFF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2" name="Google Shape;132;p25"/>
          <p:cNvSpPr/>
          <p:nvPr/>
        </p:nvSpPr>
        <p:spPr>
          <a:xfrm>
            <a:off x="2343636" y="189855"/>
            <a:ext cx="4638416" cy="4638416"/>
          </a:xfrm>
          <a:prstGeom prst="ellipse">
            <a:avLst/>
          </a:prstGeom>
          <a:solidFill>
            <a:schemeClr val="accent6">
              <a:alpha val="30196"/>
            </a:schemeClr>
          </a:solidFill>
          <a:ln cap="flat" cmpd="sng" w="28575">
            <a:solidFill>
              <a:schemeClr val="lt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accent3"/>
              </a:solidFill>
              <a:latin typeface="Arial"/>
              <a:ea typeface="Arial"/>
              <a:cs typeface="Arial"/>
              <a:sym typeface="Arial"/>
            </a:endParaRPr>
          </a:p>
        </p:txBody>
      </p:sp>
      <p:sp>
        <p:nvSpPr>
          <p:cNvPr id="133" name="Google Shape;133;p25"/>
          <p:cNvSpPr/>
          <p:nvPr/>
        </p:nvSpPr>
        <p:spPr>
          <a:xfrm>
            <a:off x="2252792" y="102394"/>
            <a:ext cx="4638416" cy="4638416"/>
          </a:xfrm>
          <a:prstGeom prst="ellipse">
            <a:avLst/>
          </a:prstGeom>
          <a:solidFill>
            <a:schemeClr val="dk1"/>
          </a:solidFill>
          <a:ln cap="flat" cmpd="sng" w="28575">
            <a:solidFill>
              <a:schemeClr val="lt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4" name="Google Shape;134;p25"/>
          <p:cNvSpPr txBox="1"/>
          <p:nvPr>
            <p:ph type="ctrTitle"/>
          </p:nvPr>
        </p:nvSpPr>
        <p:spPr>
          <a:xfrm>
            <a:off x="2686050" y="724185"/>
            <a:ext cx="3903367" cy="2370445"/>
          </a:xfrm>
          <a:prstGeom prst="rect">
            <a:avLst/>
          </a:prstGeom>
          <a:noFill/>
          <a:ln>
            <a:noFill/>
          </a:ln>
        </p:spPr>
        <p:txBody>
          <a:bodyPr anchorCtr="0" anchor="b" bIns="34275" lIns="68575" spcFirstLastPara="1" rIns="68575" wrap="square" tIns="34275">
            <a:normAutofit/>
          </a:bodyPr>
          <a:lstStyle/>
          <a:p>
            <a:pPr indent="0" lvl="0" marL="0" rtl="0" algn="ctr">
              <a:lnSpc>
                <a:spcPct val="90000"/>
              </a:lnSpc>
              <a:spcBef>
                <a:spcPts val="0"/>
              </a:spcBef>
              <a:spcAft>
                <a:spcPts val="0"/>
              </a:spcAft>
              <a:buClr>
                <a:schemeClr val="lt1"/>
              </a:buClr>
              <a:buSzPts val="4100"/>
              <a:buFont typeface="Play"/>
              <a:buNone/>
            </a:pPr>
            <a:r>
              <a:rPr lang="en" sz="4100">
                <a:solidFill>
                  <a:schemeClr val="lt1"/>
                </a:solidFill>
              </a:rPr>
              <a:t>Credit Card Fraud Analysis</a:t>
            </a:r>
            <a:endParaRPr/>
          </a:p>
        </p:txBody>
      </p:sp>
      <p:sp>
        <p:nvSpPr>
          <p:cNvPr id="135" name="Google Shape;135;p25"/>
          <p:cNvSpPr txBox="1"/>
          <p:nvPr>
            <p:ph idx="1" type="subTitle"/>
          </p:nvPr>
        </p:nvSpPr>
        <p:spPr>
          <a:xfrm>
            <a:off x="2865613" y="3307470"/>
            <a:ext cx="3381481" cy="837310"/>
          </a:xfrm>
          <a:prstGeom prst="rect">
            <a:avLst/>
          </a:prstGeom>
          <a:noFill/>
          <a:ln>
            <a:noFill/>
          </a:ln>
        </p:spPr>
        <p:txBody>
          <a:bodyPr anchorCtr="0" anchor="t" bIns="34275" lIns="68575" spcFirstLastPara="1" rIns="68575" wrap="square" tIns="34275">
            <a:normAutofit/>
          </a:bodyPr>
          <a:lstStyle/>
          <a:p>
            <a:pPr indent="0" lvl="0" marL="0" rtl="0" algn="ctr">
              <a:lnSpc>
                <a:spcPct val="90000"/>
              </a:lnSpc>
              <a:spcBef>
                <a:spcPts val="0"/>
              </a:spcBef>
              <a:spcAft>
                <a:spcPts val="0"/>
              </a:spcAft>
              <a:buClr>
                <a:schemeClr val="lt1"/>
              </a:buClr>
              <a:buSzPts val="1300"/>
              <a:buNone/>
            </a:pPr>
            <a:r>
              <a:rPr lang="en" sz="1300">
                <a:solidFill>
                  <a:schemeClr val="lt1"/>
                </a:solidFill>
              </a:rPr>
              <a:t>Data Science 1 Team: Haroon Azhar Khan, Jyoti Shukla, Raghavendra Uppilisrinivasan, Purushottam Kumar, Baruni Prabaharan</a:t>
            </a:r>
            <a:endParaRPr/>
          </a:p>
        </p:txBody>
      </p:sp>
      <p:sp>
        <p:nvSpPr>
          <p:cNvPr id="136" name="Google Shape;136;p25"/>
          <p:cNvSpPr/>
          <p:nvPr/>
        </p:nvSpPr>
        <p:spPr>
          <a:xfrm>
            <a:off x="7692206" y="731983"/>
            <a:ext cx="310173" cy="310173"/>
          </a:xfrm>
          <a:custGeom>
            <a:rect b="b" l="l" r="r" t="t"/>
            <a:pathLst>
              <a:path extrusionOk="0" h="807148" w="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cap="flat" cmpd="sng" w="28575">
            <a:solidFill>
              <a:schemeClr val="dk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7" name="Google Shape;137;p25"/>
          <p:cNvSpPr/>
          <p:nvPr/>
        </p:nvSpPr>
        <p:spPr>
          <a:xfrm>
            <a:off x="7692206" y="731983"/>
            <a:ext cx="310173" cy="310173"/>
          </a:xfrm>
          <a:custGeom>
            <a:rect b="b" l="l" r="r" t="t"/>
            <a:pathLst>
              <a:path extrusionOk="0" h="807148" w="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196"/>
            </a:schemeClr>
          </a:solidFill>
          <a:ln cap="flat" cmpd="sng" w="28575">
            <a:solidFill>
              <a:schemeClr val="lt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nvGrpSpPr>
          <p:cNvPr id="138" name="Google Shape;138;p25"/>
          <p:cNvGrpSpPr/>
          <p:nvPr/>
        </p:nvGrpSpPr>
        <p:grpSpPr>
          <a:xfrm>
            <a:off x="1560710" y="1316626"/>
            <a:ext cx="1199122" cy="398470"/>
            <a:chOff x="2504802" y="1755501"/>
            <a:chExt cx="1598829" cy="531293"/>
          </a:xfrm>
        </p:grpSpPr>
        <p:sp>
          <p:nvSpPr>
            <p:cNvPr id="139" name="Google Shape;139;p25"/>
            <p:cNvSpPr/>
            <p:nvPr/>
          </p:nvSpPr>
          <p:spPr>
            <a:xfrm>
              <a:off x="2504802" y="2113855"/>
              <a:ext cx="1598614" cy="172939"/>
            </a:xfrm>
            <a:custGeom>
              <a:rect b="b" l="l" r="r" t="t"/>
              <a:pathLst>
                <a:path extrusionOk="0" h="172939" w="1598614">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0" name="Google Shape;140;p25"/>
            <p:cNvSpPr/>
            <p:nvPr/>
          </p:nvSpPr>
          <p:spPr>
            <a:xfrm>
              <a:off x="2504802" y="1755501"/>
              <a:ext cx="1598829" cy="172724"/>
            </a:xfrm>
            <a:custGeom>
              <a:rect b="b" l="l" r="r" t="t"/>
              <a:pathLst>
                <a:path extrusionOk="0" h="172724" w="1598829">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grpSp>
      <p:sp>
        <p:nvSpPr>
          <p:cNvPr id="141" name="Google Shape;141;p25"/>
          <p:cNvSpPr/>
          <p:nvPr/>
        </p:nvSpPr>
        <p:spPr>
          <a:xfrm>
            <a:off x="1289865" y="3177080"/>
            <a:ext cx="383241" cy="383241"/>
          </a:xfrm>
          <a:prstGeom prst="ellipse">
            <a:avLst/>
          </a:prstGeom>
          <a:solidFill>
            <a:srgbClr val="FFFFFF"/>
          </a:solidFill>
          <a:ln cap="flat" cmpd="sng" w="28575">
            <a:solidFill>
              <a:schemeClr val="dk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142" name="Google Shape;142;p25"/>
          <p:cNvSpPr/>
          <p:nvPr/>
        </p:nvSpPr>
        <p:spPr>
          <a:xfrm>
            <a:off x="1289865" y="3177080"/>
            <a:ext cx="383241" cy="383241"/>
          </a:xfrm>
          <a:prstGeom prst="ellipse">
            <a:avLst/>
          </a:prstGeom>
          <a:solidFill>
            <a:schemeClr val="accent2">
              <a:alpha val="30196"/>
            </a:schemeClr>
          </a:solidFill>
          <a:ln cap="flat" cmpd="sng" w="28575">
            <a:solidFill>
              <a:schemeClr val="lt1"/>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nvGrpSpPr>
          <p:cNvPr id="143" name="Google Shape;143;p25"/>
          <p:cNvGrpSpPr/>
          <p:nvPr/>
        </p:nvGrpSpPr>
        <p:grpSpPr>
          <a:xfrm>
            <a:off x="6448130" y="3131848"/>
            <a:ext cx="1396114" cy="1396249"/>
            <a:chOff x="5734053" y="3067000"/>
            <a:chExt cx="724484" cy="724549"/>
          </a:xfrm>
        </p:grpSpPr>
        <p:sp>
          <p:nvSpPr>
            <p:cNvPr id="144" name="Google Shape;144;p25"/>
            <p:cNvSpPr/>
            <p:nvPr/>
          </p:nvSpPr>
          <p:spPr>
            <a:xfrm>
              <a:off x="5734055" y="3067000"/>
              <a:ext cx="14192" cy="14097"/>
            </a:xfrm>
            <a:custGeom>
              <a:rect b="b" l="l" r="r" t="t"/>
              <a:pathLst>
                <a:path extrusionOk="0" h="14097" w="14192">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5" name="Google Shape;145;p25"/>
            <p:cNvSpPr/>
            <p:nvPr/>
          </p:nvSpPr>
          <p:spPr>
            <a:xfrm>
              <a:off x="5793300" y="3067000"/>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6" name="Google Shape;146;p25"/>
            <p:cNvSpPr/>
            <p:nvPr/>
          </p:nvSpPr>
          <p:spPr>
            <a:xfrm>
              <a:off x="5852450"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7" name="Google Shape;147;p25"/>
            <p:cNvSpPr/>
            <p:nvPr/>
          </p:nvSpPr>
          <p:spPr>
            <a:xfrm>
              <a:off x="5911695"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8" name="Google Shape;148;p25"/>
            <p:cNvSpPr/>
            <p:nvPr/>
          </p:nvSpPr>
          <p:spPr>
            <a:xfrm>
              <a:off x="5970846"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49" name="Google Shape;149;p25"/>
            <p:cNvSpPr/>
            <p:nvPr/>
          </p:nvSpPr>
          <p:spPr>
            <a:xfrm>
              <a:off x="6030092" y="3067000"/>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0" name="Google Shape;150;p25"/>
            <p:cNvSpPr/>
            <p:nvPr/>
          </p:nvSpPr>
          <p:spPr>
            <a:xfrm>
              <a:off x="6089242"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1" name="Google Shape;151;p25"/>
            <p:cNvSpPr/>
            <p:nvPr/>
          </p:nvSpPr>
          <p:spPr>
            <a:xfrm>
              <a:off x="5734055" y="3126244"/>
              <a:ext cx="14192" cy="14097"/>
            </a:xfrm>
            <a:custGeom>
              <a:rect b="b" l="l" r="r" t="t"/>
              <a:pathLst>
                <a:path extrusionOk="0" h="14097" w="14192">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2" name="Google Shape;152;p25"/>
            <p:cNvSpPr/>
            <p:nvPr/>
          </p:nvSpPr>
          <p:spPr>
            <a:xfrm>
              <a:off x="5793300" y="3126242"/>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3" name="Google Shape;153;p25"/>
            <p:cNvSpPr/>
            <p:nvPr/>
          </p:nvSpPr>
          <p:spPr>
            <a:xfrm>
              <a:off x="5852450" y="3126242"/>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4" name="Google Shape;154;p25"/>
            <p:cNvSpPr/>
            <p:nvPr/>
          </p:nvSpPr>
          <p:spPr>
            <a:xfrm>
              <a:off x="5911695" y="3126242"/>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5" name="Google Shape;155;p25"/>
            <p:cNvSpPr/>
            <p:nvPr/>
          </p:nvSpPr>
          <p:spPr>
            <a:xfrm>
              <a:off x="5970846" y="3126242"/>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6" name="Google Shape;156;p25"/>
            <p:cNvSpPr/>
            <p:nvPr/>
          </p:nvSpPr>
          <p:spPr>
            <a:xfrm>
              <a:off x="6030091" y="3126244"/>
              <a:ext cx="14097" cy="14097"/>
            </a:xfrm>
            <a:custGeom>
              <a:rect b="b" l="l" r="r" t="t"/>
              <a:pathLst>
                <a:path extrusionOk="0" h="14097" w="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7" name="Google Shape;157;p25"/>
            <p:cNvSpPr/>
            <p:nvPr/>
          </p:nvSpPr>
          <p:spPr>
            <a:xfrm>
              <a:off x="6089242" y="3126242"/>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8" name="Google Shape;158;p25"/>
            <p:cNvSpPr/>
            <p:nvPr/>
          </p:nvSpPr>
          <p:spPr>
            <a:xfrm>
              <a:off x="5734055" y="3185393"/>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59" name="Google Shape;159;p25"/>
            <p:cNvSpPr/>
            <p:nvPr/>
          </p:nvSpPr>
          <p:spPr>
            <a:xfrm>
              <a:off x="5793300" y="3185393"/>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0" name="Google Shape;160;p25"/>
            <p:cNvSpPr/>
            <p:nvPr/>
          </p:nvSpPr>
          <p:spPr>
            <a:xfrm>
              <a:off x="5852450" y="3185393"/>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1" name="Google Shape;161;p25"/>
            <p:cNvSpPr/>
            <p:nvPr/>
          </p:nvSpPr>
          <p:spPr>
            <a:xfrm>
              <a:off x="5911695" y="3185393"/>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2" name="Google Shape;162;p25"/>
            <p:cNvSpPr/>
            <p:nvPr/>
          </p:nvSpPr>
          <p:spPr>
            <a:xfrm>
              <a:off x="5970846" y="3185393"/>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3" name="Google Shape;163;p25"/>
            <p:cNvSpPr/>
            <p:nvPr/>
          </p:nvSpPr>
          <p:spPr>
            <a:xfrm>
              <a:off x="6030092" y="3185393"/>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4" name="Google Shape;164;p25"/>
            <p:cNvSpPr/>
            <p:nvPr/>
          </p:nvSpPr>
          <p:spPr>
            <a:xfrm>
              <a:off x="6089242" y="3185393"/>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5" name="Google Shape;165;p25"/>
            <p:cNvSpPr/>
            <p:nvPr/>
          </p:nvSpPr>
          <p:spPr>
            <a:xfrm>
              <a:off x="5734055" y="3244637"/>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6" name="Google Shape;166;p25"/>
            <p:cNvSpPr/>
            <p:nvPr/>
          </p:nvSpPr>
          <p:spPr>
            <a:xfrm>
              <a:off x="5793300" y="3244635"/>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7" name="Google Shape;167;p25"/>
            <p:cNvSpPr/>
            <p:nvPr/>
          </p:nvSpPr>
          <p:spPr>
            <a:xfrm>
              <a:off x="5852450" y="3244635"/>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8" name="Google Shape;168;p25"/>
            <p:cNvSpPr/>
            <p:nvPr/>
          </p:nvSpPr>
          <p:spPr>
            <a:xfrm>
              <a:off x="5911695" y="3244635"/>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69" name="Google Shape;169;p25"/>
            <p:cNvSpPr/>
            <p:nvPr/>
          </p:nvSpPr>
          <p:spPr>
            <a:xfrm>
              <a:off x="5970846" y="3244635"/>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0" name="Google Shape;170;p25"/>
            <p:cNvSpPr/>
            <p:nvPr/>
          </p:nvSpPr>
          <p:spPr>
            <a:xfrm>
              <a:off x="6030091" y="3244637"/>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1" name="Google Shape;171;p25"/>
            <p:cNvSpPr/>
            <p:nvPr/>
          </p:nvSpPr>
          <p:spPr>
            <a:xfrm>
              <a:off x="6089242" y="3244635"/>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2" name="Google Shape;172;p25"/>
            <p:cNvSpPr/>
            <p:nvPr/>
          </p:nvSpPr>
          <p:spPr>
            <a:xfrm>
              <a:off x="5734055" y="3303786"/>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3" name="Google Shape;173;p25"/>
            <p:cNvSpPr/>
            <p:nvPr/>
          </p:nvSpPr>
          <p:spPr>
            <a:xfrm>
              <a:off x="5793300" y="3303786"/>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4" name="Google Shape;174;p25"/>
            <p:cNvSpPr/>
            <p:nvPr/>
          </p:nvSpPr>
          <p:spPr>
            <a:xfrm>
              <a:off x="5852450"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5" name="Google Shape;175;p25"/>
            <p:cNvSpPr/>
            <p:nvPr/>
          </p:nvSpPr>
          <p:spPr>
            <a:xfrm>
              <a:off x="5911695"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6" name="Google Shape;176;p25"/>
            <p:cNvSpPr/>
            <p:nvPr/>
          </p:nvSpPr>
          <p:spPr>
            <a:xfrm>
              <a:off x="5970846"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7" name="Google Shape;177;p25"/>
            <p:cNvSpPr/>
            <p:nvPr/>
          </p:nvSpPr>
          <p:spPr>
            <a:xfrm>
              <a:off x="6030091" y="3303786"/>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8" name="Google Shape;178;p25"/>
            <p:cNvSpPr/>
            <p:nvPr/>
          </p:nvSpPr>
          <p:spPr>
            <a:xfrm>
              <a:off x="6089242"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79" name="Google Shape;179;p25"/>
            <p:cNvSpPr/>
            <p:nvPr/>
          </p:nvSpPr>
          <p:spPr>
            <a:xfrm>
              <a:off x="5734055" y="3363031"/>
              <a:ext cx="14192" cy="14097"/>
            </a:xfrm>
            <a:custGeom>
              <a:rect b="b" l="l" r="r" t="t"/>
              <a:pathLst>
                <a:path extrusionOk="0" h="14097"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0" name="Google Shape;180;p25"/>
            <p:cNvSpPr/>
            <p:nvPr/>
          </p:nvSpPr>
          <p:spPr>
            <a:xfrm>
              <a:off x="5793300" y="3363029"/>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1" name="Google Shape;181;p25"/>
            <p:cNvSpPr/>
            <p:nvPr/>
          </p:nvSpPr>
          <p:spPr>
            <a:xfrm>
              <a:off x="5852450" y="3363029"/>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2" name="Google Shape;182;p25"/>
            <p:cNvSpPr/>
            <p:nvPr/>
          </p:nvSpPr>
          <p:spPr>
            <a:xfrm>
              <a:off x="5911695" y="3363029"/>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3" name="Google Shape;183;p25"/>
            <p:cNvSpPr/>
            <p:nvPr/>
          </p:nvSpPr>
          <p:spPr>
            <a:xfrm>
              <a:off x="5970846" y="3363029"/>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4" name="Google Shape;184;p25"/>
            <p:cNvSpPr/>
            <p:nvPr/>
          </p:nvSpPr>
          <p:spPr>
            <a:xfrm>
              <a:off x="6030091" y="3363031"/>
              <a:ext cx="14097" cy="14097"/>
            </a:xfrm>
            <a:custGeom>
              <a:rect b="b" l="l" r="r" t="t"/>
              <a:pathLst>
                <a:path extrusionOk="0" h="14097"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5" name="Google Shape;185;p25"/>
            <p:cNvSpPr/>
            <p:nvPr/>
          </p:nvSpPr>
          <p:spPr>
            <a:xfrm>
              <a:off x="6089242" y="3363029"/>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6" name="Google Shape;186;p25"/>
            <p:cNvSpPr/>
            <p:nvPr/>
          </p:nvSpPr>
          <p:spPr>
            <a:xfrm>
              <a:off x="5734055" y="3422181"/>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7" name="Google Shape;187;p25"/>
            <p:cNvSpPr/>
            <p:nvPr/>
          </p:nvSpPr>
          <p:spPr>
            <a:xfrm>
              <a:off x="5793300" y="3422181"/>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8" name="Google Shape;188;p25"/>
            <p:cNvSpPr/>
            <p:nvPr/>
          </p:nvSpPr>
          <p:spPr>
            <a:xfrm>
              <a:off x="5852450" y="34221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89" name="Google Shape;189;p25"/>
            <p:cNvSpPr/>
            <p:nvPr/>
          </p:nvSpPr>
          <p:spPr>
            <a:xfrm>
              <a:off x="5911695" y="34221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0" name="Google Shape;190;p25"/>
            <p:cNvSpPr/>
            <p:nvPr/>
          </p:nvSpPr>
          <p:spPr>
            <a:xfrm>
              <a:off x="5970846" y="34221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1" name="Google Shape;191;p25"/>
            <p:cNvSpPr/>
            <p:nvPr/>
          </p:nvSpPr>
          <p:spPr>
            <a:xfrm>
              <a:off x="6030091" y="3422181"/>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2" name="Google Shape;192;p25"/>
            <p:cNvSpPr/>
            <p:nvPr/>
          </p:nvSpPr>
          <p:spPr>
            <a:xfrm>
              <a:off x="6089242" y="34221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3" name="Google Shape;193;p25"/>
            <p:cNvSpPr/>
            <p:nvPr/>
          </p:nvSpPr>
          <p:spPr>
            <a:xfrm>
              <a:off x="6148487" y="3067000"/>
              <a:ext cx="14097" cy="14097"/>
            </a:xfrm>
            <a:custGeom>
              <a:rect b="b" l="l" r="r" t="t"/>
              <a:pathLst>
                <a:path extrusionOk="0" h="14097" w="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4" name="Google Shape;194;p25"/>
            <p:cNvSpPr/>
            <p:nvPr/>
          </p:nvSpPr>
          <p:spPr>
            <a:xfrm>
              <a:off x="6207638"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5" name="Google Shape;195;p25"/>
            <p:cNvSpPr/>
            <p:nvPr/>
          </p:nvSpPr>
          <p:spPr>
            <a:xfrm>
              <a:off x="6266883" y="3067000"/>
              <a:ext cx="14096" cy="14097"/>
            </a:xfrm>
            <a:custGeom>
              <a:rect b="b" l="l" r="r" t="t"/>
              <a:pathLst>
                <a:path extrusionOk="0" h="14097" w="14096">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6" name="Google Shape;196;p25"/>
            <p:cNvSpPr/>
            <p:nvPr/>
          </p:nvSpPr>
          <p:spPr>
            <a:xfrm>
              <a:off x="6326033"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7" name="Google Shape;197;p25"/>
            <p:cNvSpPr/>
            <p:nvPr/>
          </p:nvSpPr>
          <p:spPr>
            <a:xfrm>
              <a:off x="6385279" y="3067000"/>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8" name="Google Shape;198;p25"/>
            <p:cNvSpPr/>
            <p:nvPr/>
          </p:nvSpPr>
          <p:spPr>
            <a:xfrm>
              <a:off x="6444429" y="3067000"/>
              <a:ext cx="14096" cy="14097"/>
            </a:xfrm>
            <a:custGeom>
              <a:rect b="b" l="l" r="r" t="t"/>
              <a:pathLst>
                <a:path extrusionOk="0" h="14097" w="14096">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199" name="Google Shape;199;p25"/>
            <p:cNvSpPr/>
            <p:nvPr/>
          </p:nvSpPr>
          <p:spPr>
            <a:xfrm>
              <a:off x="6148487" y="3126241"/>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0" name="Google Shape;200;p25"/>
            <p:cNvSpPr/>
            <p:nvPr/>
          </p:nvSpPr>
          <p:spPr>
            <a:xfrm>
              <a:off x="6207638" y="3126241"/>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1" name="Google Shape;201;p25"/>
            <p:cNvSpPr/>
            <p:nvPr/>
          </p:nvSpPr>
          <p:spPr>
            <a:xfrm>
              <a:off x="6266883" y="3126241"/>
              <a:ext cx="14096" cy="14099"/>
            </a:xfrm>
            <a:custGeom>
              <a:rect b="b" l="l" r="r" t="t"/>
              <a:pathLst>
                <a:path extrusionOk="0" h="14099" w="14096">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2" name="Google Shape;202;p25"/>
            <p:cNvSpPr/>
            <p:nvPr/>
          </p:nvSpPr>
          <p:spPr>
            <a:xfrm>
              <a:off x="6326033" y="3126241"/>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3" name="Google Shape;203;p25"/>
            <p:cNvSpPr/>
            <p:nvPr/>
          </p:nvSpPr>
          <p:spPr>
            <a:xfrm>
              <a:off x="6385279" y="312624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4" name="Google Shape;204;p25"/>
            <p:cNvSpPr/>
            <p:nvPr/>
          </p:nvSpPr>
          <p:spPr>
            <a:xfrm>
              <a:off x="6444429" y="3126242"/>
              <a:ext cx="14096" cy="14097"/>
            </a:xfrm>
            <a:custGeom>
              <a:rect b="b" l="l" r="r" t="t"/>
              <a:pathLst>
                <a:path extrusionOk="0" h="14097"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5" name="Google Shape;205;p25"/>
            <p:cNvSpPr/>
            <p:nvPr/>
          </p:nvSpPr>
          <p:spPr>
            <a:xfrm>
              <a:off x="6148487" y="3185391"/>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6" name="Google Shape;206;p25"/>
            <p:cNvSpPr/>
            <p:nvPr/>
          </p:nvSpPr>
          <p:spPr>
            <a:xfrm>
              <a:off x="6207638" y="318539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7" name="Google Shape;207;p25"/>
            <p:cNvSpPr/>
            <p:nvPr/>
          </p:nvSpPr>
          <p:spPr>
            <a:xfrm>
              <a:off x="6266883" y="3185391"/>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8" name="Google Shape;208;p25"/>
            <p:cNvSpPr/>
            <p:nvPr/>
          </p:nvSpPr>
          <p:spPr>
            <a:xfrm>
              <a:off x="6326033" y="318539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09" name="Google Shape;209;p25"/>
            <p:cNvSpPr/>
            <p:nvPr/>
          </p:nvSpPr>
          <p:spPr>
            <a:xfrm>
              <a:off x="6385279" y="318539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0" name="Google Shape;210;p25"/>
            <p:cNvSpPr/>
            <p:nvPr/>
          </p:nvSpPr>
          <p:spPr>
            <a:xfrm>
              <a:off x="6444429" y="3185391"/>
              <a:ext cx="14096" cy="14097"/>
            </a:xfrm>
            <a:custGeom>
              <a:rect b="b" l="l" r="r" t="t"/>
              <a:pathLst>
                <a:path extrusionOk="0" h="14097" w="14096">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1" name="Google Shape;211;p25"/>
            <p:cNvSpPr/>
            <p:nvPr/>
          </p:nvSpPr>
          <p:spPr>
            <a:xfrm>
              <a:off x="6148487" y="3244634"/>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2" name="Google Shape;212;p25"/>
            <p:cNvSpPr/>
            <p:nvPr/>
          </p:nvSpPr>
          <p:spPr>
            <a:xfrm>
              <a:off x="6207638" y="3244634"/>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3" name="Google Shape;213;p25"/>
            <p:cNvSpPr/>
            <p:nvPr/>
          </p:nvSpPr>
          <p:spPr>
            <a:xfrm>
              <a:off x="6266883" y="3244634"/>
              <a:ext cx="14096" cy="14099"/>
            </a:xfrm>
            <a:custGeom>
              <a:rect b="b" l="l" r="r" t="t"/>
              <a:pathLst>
                <a:path extrusionOk="0" h="14099" w="14096">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4" name="Google Shape;214;p25"/>
            <p:cNvSpPr/>
            <p:nvPr/>
          </p:nvSpPr>
          <p:spPr>
            <a:xfrm>
              <a:off x="6326033" y="3244634"/>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5" name="Google Shape;215;p25"/>
            <p:cNvSpPr/>
            <p:nvPr/>
          </p:nvSpPr>
          <p:spPr>
            <a:xfrm>
              <a:off x="6385279" y="3244634"/>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6" name="Google Shape;216;p25"/>
            <p:cNvSpPr/>
            <p:nvPr/>
          </p:nvSpPr>
          <p:spPr>
            <a:xfrm>
              <a:off x="6444429" y="324463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7" name="Google Shape;217;p25"/>
            <p:cNvSpPr/>
            <p:nvPr/>
          </p:nvSpPr>
          <p:spPr>
            <a:xfrm>
              <a:off x="6148487" y="3303786"/>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8" name="Google Shape;218;p25"/>
            <p:cNvSpPr/>
            <p:nvPr/>
          </p:nvSpPr>
          <p:spPr>
            <a:xfrm>
              <a:off x="6207638"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19" name="Google Shape;219;p25"/>
            <p:cNvSpPr/>
            <p:nvPr/>
          </p:nvSpPr>
          <p:spPr>
            <a:xfrm>
              <a:off x="6266883" y="3303786"/>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0" name="Google Shape;220;p25"/>
            <p:cNvSpPr/>
            <p:nvPr/>
          </p:nvSpPr>
          <p:spPr>
            <a:xfrm>
              <a:off x="6326033"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1" name="Google Shape;221;p25"/>
            <p:cNvSpPr/>
            <p:nvPr/>
          </p:nvSpPr>
          <p:spPr>
            <a:xfrm>
              <a:off x="6385279" y="33037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2" name="Google Shape;222;p25"/>
            <p:cNvSpPr/>
            <p:nvPr/>
          </p:nvSpPr>
          <p:spPr>
            <a:xfrm>
              <a:off x="6444429" y="330378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3" name="Google Shape;223;p25"/>
            <p:cNvSpPr/>
            <p:nvPr/>
          </p:nvSpPr>
          <p:spPr>
            <a:xfrm>
              <a:off x="6148487" y="3363028"/>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4" name="Google Shape;224;p25"/>
            <p:cNvSpPr/>
            <p:nvPr/>
          </p:nvSpPr>
          <p:spPr>
            <a:xfrm>
              <a:off x="6207638" y="3363028"/>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5" name="Google Shape;225;p25"/>
            <p:cNvSpPr/>
            <p:nvPr/>
          </p:nvSpPr>
          <p:spPr>
            <a:xfrm>
              <a:off x="6266883" y="3363028"/>
              <a:ext cx="14096" cy="14099"/>
            </a:xfrm>
            <a:custGeom>
              <a:rect b="b" l="l" r="r" t="t"/>
              <a:pathLst>
                <a:path extrusionOk="0" h="14099" w="14096">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6" name="Google Shape;226;p25"/>
            <p:cNvSpPr/>
            <p:nvPr/>
          </p:nvSpPr>
          <p:spPr>
            <a:xfrm>
              <a:off x="6326033" y="3363028"/>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7" name="Google Shape;227;p25"/>
            <p:cNvSpPr/>
            <p:nvPr/>
          </p:nvSpPr>
          <p:spPr>
            <a:xfrm>
              <a:off x="6385279" y="3363027"/>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8" name="Google Shape;228;p25"/>
            <p:cNvSpPr/>
            <p:nvPr/>
          </p:nvSpPr>
          <p:spPr>
            <a:xfrm>
              <a:off x="6444429" y="3363029"/>
              <a:ext cx="14096" cy="14097"/>
            </a:xfrm>
            <a:custGeom>
              <a:rect b="b" l="l" r="r" t="t"/>
              <a:pathLst>
                <a:path extrusionOk="0" h="14097"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29" name="Google Shape;229;p25"/>
            <p:cNvSpPr/>
            <p:nvPr/>
          </p:nvSpPr>
          <p:spPr>
            <a:xfrm>
              <a:off x="6148487" y="3422179"/>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0" name="Google Shape;230;p25"/>
            <p:cNvSpPr/>
            <p:nvPr/>
          </p:nvSpPr>
          <p:spPr>
            <a:xfrm>
              <a:off x="6207638" y="3422179"/>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1" name="Google Shape;231;p25"/>
            <p:cNvSpPr/>
            <p:nvPr/>
          </p:nvSpPr>
          <p:spPr>
            <a:xfrm>
              <a:off x="6266883" y="3422179"/>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2" name="Google Shape;232;p25"/>
            <p:cNvSpPr/>
            <p:nvPr/>
          </p:nvSpPr>
          <p:spPr>
            <a:xfrm>
              <a:off x="6326033" y="342217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3" name="Google Shape;233;p25"/>
            <p:cNvSpPr/>
            <p:nvPr/>
          </p:nvSpPr>
          <p:spPr>
            <a:xfrm>
              <a:off x="6385279" y="3422180"/>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4" name="Google Shape;234;p25"/>
            <p:cNvSpPr/>
            <p:nvPr/>
          </p:nvSpPr>
          <p:spPr>
            <a:xfrm>
              <a:off x="6444429" y="34221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5" name="Google Shape;235;p25"/>
            <p:cNvSpPr/>
            <p:nvPr/>
          </p:nvSpPr>
          <p:spPr>
            <a:xfrm>
              <a:off x="5734055" y="3481330"/>
              <a:ext cx="14192" cy="14096"/>
            </a:xfrm>
            <a:custGeom>
              <a:rect b="b" l="l" r="r" t="t"/>
              <a:pathLst>
                <a:path extrusionOk="0" h="14096" w="14192">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6" name="Google Shape;236;p25"/>
            <p:cNvSpPr/>
            <p:nvPr/>
          </p:nvSpPr>
          <p:spPr>
            <a:xfrm>
              <a:off x="5793300" y="3481330"/>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7" name="Google Shape;237;p25"/>
            <p:cNvSpPr/>
            <p:nvPr/>
          </p:nvSpPr>
          <p:spPr>
            <a:xfrm>
              <a:off x="5852450"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8" name="Google Shape;238;p25"/>
            <p:cNvSpPr/>
            <p:nvPr/>
          </p:nvSpPr>
          <p:spPr>
            <a:xfrm>
              <a:off x="5911695"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39" name="Google Shape;239;p25"/>
            <p:cNvSpPr/>
            <p:nvPr/>
          </p:nvSpPr>
          <p:spPr>
            <a:xfrm>
              <a:off x="5970846"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0" name="Google Shape;240;p25"/>
            <p:cNvSpPr/>
            <p:nvPr/>
          </p:nvSpPr>
          <p:spPr>
            <a:xfrm>
              <a:off x="6030092" y="3481330"/>
              <a:ext cx="14097" cy="14097"/>
            </a:xfrm>
            <a:custGeom>
              <a:rect b="b" l="l" r="r" t="t"/>
              <a:pathLst>
                <a:path extrusionOk="0" h="14097" w="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1" name="Google Shape;241;p25"/>
            <p:cNvSpPr/>
            <p:nvPr/>
          </p:nvSpPr>
          <p:spPr>
            <a:xfrm>
              <a:off x="6089242"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2" name="Google Shape;242;p25"/>
            <p:cNvSpPr/>
            <p:nvPr/>
          </p:nvSpPr>
          <p:spPr>
            <a:xfrm>
              <a:off x="5734055" y="3540575"/>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3" name="Google Shape;243;p25"/>
            <p:cNvSpPr/>
            <p:nvPr/>
          </p:nvSpPr>
          <p:spPr>
            <a:xfrm>
              <a:off x="5793300" y="3540575"/>
              <a:ext cx="14097" cy="14097"/>
            </a:xfrm>
            <a:custGeom>
              <a:rect b="b" l="l" r="r" t="t"/>
              <a:pathLst>
                <a:path extrusionOk="0" h="14097" w="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4" name="Google Shape;244;p25"/>
            <p:cNvSpPr/>
            <p:nvPr/>
          </p:nvSpPr>
          <p:spPr>
            <a:xfrm>
              <a:off x="5852450" y="354057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5" name="Google Shape;245;p25"/>
            <p:cNvSpPr/>
            <p:nvPr/>
          </p:nvSpPr>
          <p:spPr>
            <a:xfrm>
              <a:off x="5911695" y="354057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6" name="Google Shape;246;p25"/>
            <p:cNvSpPr/>
            <p:nvPr/>
          </p:nvSpPr>
          <p:spPr>
            <a:xfrm>
              <a:off x="5970846" y="354057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7" name="Google Shape;247;p25"/>
            <p:cNvSpPr/>
            <p:nvPr/>
          </p:nvSpPr>
          <p:spPr>
            <a:xfrm>
              <a:off x="6030092" y="3540575"/>
              <a:ext cx="14097" cy="14097"/>
            </a:xfrm>
            <a:custGeom>
              <a:rect b="b" l="l" r="r" t="t"/>
              <a:pathLst>
                <a:path extrusionOk="0" h="14097" w="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8" name="Google Shape;248;p25"/>
            <p:cNvSpPr/>
            <p:nvPr/>
          </p:nvSpPr>
          <p:spPr>
            <a:xfrm>
              <a:off x="6089242" y="354057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49" name="Google Shape;249;p25"/>
            <p:cNvSpPr/>
            <p:nvPr/>
          </p:nvSpPr>
          <p:spPr>
            <a:xfrm>
              <a:off x="5734055" y="3599725"/>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0" name="Google Shape;250;p25"/>
            <p:cNvSpPr/>
            <p:nvPr/>
          </p:nvSpPr>
          <p:spPr>
            <a:xfrm>
              <a:off x="5793300" y="3599725"/>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1" name="Google Shape;251;p25"/>
            <p:cNvSpPr/>
            <p:nvPr/>
          </p:nvSpPr>
          <p:spPr>
            <a:xfrm>
              <a:off x="5852450" y="359972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2" name="Google Shape;252;p25"/>
            <p:cNvSpPr/>
            <p:nvPr/>
          </p:nvSpPr>
          <p:spPr>
            <a:xfrm>
              <a:off x="5911695" y="359972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3" name="Google Shape;253;p25"/>
            <p:cNvSpPr/>
            <p:nvPr/>
          </p:nvSpPr>
          <p:spPr>
            <a:xfrm>
              <a:off x="5970846" y="359972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4" name="Google Shape;254;p25"/>
            <p:cNvSpPr/>
            <p:nvPr/>
          </p:nvSpPr>
          <p:spPr>
            <a:xfrm>
              <a:off x="6030091" y="3599725"/>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5" name="Google Shape;255;p25"/>
            <p:cNvSpPr/>
            <p:nvPr/>
          </p:nvSpPr>
          <p:spPr>
            <a:xfrm>
              <a:off x="6089242" y="359972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6" name="Google Shape;256;p25"/>
            <p:cNvSpPr/>
            <p:nvPr/>
          </p:nvSpPr>
          <p:spPr>
            <a:xfrm>
              <a:off x="5734053" y="3658968"/>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7" name="Google Shape;257;p25"/>
            <p:cNvSpPr/>
            <p:nvPr/>
          </p:nvSpPr>
          <p:spPr>
            <a:xfrm>
              <a:off x="5793299" y="3658968"/>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8" name="Google Shape;258;p25"/>
            <p:cNvSpPr/>
            <p:nvPr/>
          </p:nvSpPr>
          <p:spPr>
            <a:xfrm>
              <a:off x="5852449" y="365896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59" name="Google Shape;259;p25"/>
            <p:cNvSpPr/>
            <p:nvPr/>
          </p:nvSpPr>
          <p:spPr>
            <a:xfrm>
              <a:off x="5911695" y="365896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0" name="Google Shape;260;p25"/>
            <p:cNvSpPr/>
            <p:nvPr/>
          </p:nvSpPr>
          <p:spPr>
            <a:xfrm>
              <a:off x="5970845" y="365896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1" name="Google Shape;261;p25"/>
            <p:cNvSpPr/>
            <p:nvPr/>
          </p:nvSpPr>
          <p:spPr>
            <a:xfrm>
              <a:off x="6030090" y="3658968"/>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2" name="Google Shape;262;p25"/>
            <p:cNvSpPr/>
            <p:nvPr/>
          </p:nvSpPr>
          <p:spPr>
            <a:xfrm>
              <a:off x="6089242" y="365896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3" name="Google Shape;263;p25"/>
            <p:cNvSpPr/>
            <p:nvPr/>
          </p:nvSpPr>
          <p:spPr>
            <a:xfrm>
              <a:off x="5734055" y="3718118"/>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4" name="Google Shape;264;p25"/>
            <p:cNvSpPr/>
            <p:nvPr/>
          </p:nvSpPr>
          <p:spPr>
            <a:xfrm>
              <a:off x="5793300" y="3718118"/>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5" name="Google Shape;265;p25"/>
            <p:cNvSpPr/>
            <p:nvPr/>
          </p:nvSpPr>
          <p:spPr>
            <a:xfrm>
              <a:off x="5852450" y="371811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6" name="Google Shape;266;p25"/>
            <p:cNvSpPr/>
            <p:nvPr/>
          </p:nvSpPr>
          <p:spPr>
            <a:xfrm>
              <a:off x="5911696" y="371811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7" name="Google Shape;267;p25"/>
            <p:cNvSpPr/>
            <p:nvPr/>
          </p:nvSpPr>
          <p:spPr>
            <a:xfrm>
              <a:off x="5970846" y="371811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8" name="Google Shape;268;p25"/>
            <p:cNvSpPr/>
            <p:nvPr/>
          </p:nvSpPr>
          <p:spPr>
            <a:xfrm>
              <a:off x="6030091" y="3718118"/>
              <a:ext cx="14097" cy="14096"/>
            </a:xfrm>
            <a:custGeom>
              <a:rect b="b" l="l" r="r" t="t"/>
              <a:pathLst>
                <a:path extrusionOk="0" h="14096" w="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69" name="Google Shape;269;p25"/>
            <p:cNvSpPr/>
            <p:nvPr/>
          </p:nvSpPr>
          <p:spPr>
            <a:xfrm>
              <a:off x="6089242" y="371811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0" name="Google Shape;270;p25"/>
            <p:cNvSpPr/>
            <p:nvPr/>
          </p:nvSpPr>
          <p:spPr>
            <a:xfrm>
              <a:off x="5734057" y="3777362"/>
              <a:ext cx="14192" cy="14096"/>
            </a:xfrm>
            <a:custGeom>
              <a:rect b="b" l="l" r="r" t="t"/>
              <a:pathLst>
                <a:path extrusionOk="0" h="14096" w="14192">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1" name="Google Shape;271;p25"/>
            <p:cNvSpPr/>
            <p:nvPr/>
          </p:nvSpPr>
          <p:spPr>
            <a:xfrm>
              <a:off x="5793301" y="3777362"/>
              <a:ext cx="14097" cy="14096"/>
            </a:xfrm>
            <a:custGeom>
              <a:rect b="b" l="l" r="r" t="t"/>
              <a:pathLst>
                <a:path extrusionOk="0" h="14096" w="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2" name="Google Shape;272;p25"/>
            <p:cNvSpPr/>
            <p:nvPr/>
          </p:nvSpPr>
          <p:spPr>
            <a:xfrm>
              <a:off x="5852453" y="377736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3" name="Google Shape;273;p25"/>
            <p:cNvSpPr/>
            <p:nvPr/>
          </p:nvSpPr>
          <p:spPr>
            <a:xfrm>
              <a:off x="5911701" y="377736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4" name="Google Shape;274;p25"/>
            <p:cNvSpPr/>
            <p:nvPr/>
          </p:nvSpPr>
          <p:spPr>
            <a:xfrm>
              <a:off x="5970854" y="377736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5" name="Google Shape;275;p25"/>
            <p:cNvSpPr/>
            <p:nvPr/>
          </p:nvSpPr>
          <p:spPr>
            <a:xfrm>
              <a:off x="6030102" y="3777362"/>
              <a:ext cx="14097" cy="14096"/>
            </a:xfrm>
            <a:custGeom>
              <a:rect b="b" l="l" r="r" t="t"/>
              <a:pathLst>
                <a:path extrusionOk="0" h="14096" w="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6" name="Google Shape;276;p25"/>
            <p:cNvSpPr/>
            <p:nvPr/>
          </p:nvSpPr>
          <p:spPr>
            <a:xfrm>
              <a:off x="6089250" y="377736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7" name="Google Shape;277;p25"/>
            <p:cNvSpPr/>
            <p:nvPr/>
          </p:nvSpPr>
          <p:spPr>
            <a:xfrm>
              <a:off x="6148495" y="3481330"/>
              <a:ext cx="14097" cy="14096"/>
            </a:xfrm>
            <a:custGeom>
              <a:rect b="b" l="l" r="r" t="t"/>
              <a:pathLst>
                <a:path extrusionOk="0" h="14096" w="14097">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8" name="Google Shape;278;p25"/>
            <p:cNvSpPr/>
            <p:nvPr/>
          </p:nvSpPr>
          <p:spPr>
            <a:xfrm>
              <a:off x="6207646"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79" name="Google Shape;279;p25"/>
            <p:cNvSpPr/>
            <p:nvPr/>
          </p:nvSpPr>
          <p:spPr>
            <a:xfrm>
              <a:off x="6266891" y="3481330"/>
              <a:ext cx="14096" cy="14096"/>
            </a:xfrm>
            <a:custGeom>
              <a:rect b="b" l="l" r="r" t="t"/>
              <a:pathLst>
                <a:path extrusionOk="0" h="14096" w="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0" name="Google Shape;280;p25"/>
            <p:cNvSpPr/>
            <p:nvPr/>
          </p:nvSpPr>
          <p:spPr>
            <a:xfrm>
              <a:off x="6326042"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1" name="Google Shape;281;p25"/>
            <p:cNvSpPr/>
            <p:nvPr/>
          </p:nvSpPr>
          <p:spPr>
            <a:xfrm>
              <a:off x="6385288" y="3481330"/>
              <a:ext cx="14096" cy="14096"/>
            </a:xfrm>
            <a:custGeom>
              <a:rect b="b" l="l" r="r" t="t"/>
              <a:pathLst>
                <a:path extrusionOk="0" h="14096" w="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2" name="Google Shape;282;p25"/>
            <p:cNvSpPr/>
            <p:nvPr/>
          </p:nvSpPr>
          <p:spPr>
            <a:xfrm>
              <a:off x="6444437" y="3481329"/>
              <a:ext cx="14096" cy="14097"/>
            </a:xfrm>
            <a:custGeom>
              <a:rect b="b" l="l" r="r" t="t"/>
              <a:pathLst>
                <a:path extrusionOk="0" h="14097" w="14096">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3" name="Google Shape;283;p25"/>
            <p:cNvSpPr/>
            <p:nvPr/>
          </p:nvSpPr>
          <p:spPr>
            <a:xfrm>
              <a:off x="6148495" y="3540578"/>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4" name="Google Shape;284;p25"/>
            <p:cNvSpPr/>
            <p:nvPr/>
          </p:nvSpPr>
          <p:spPr>
            <a:xfrm>
              <a:off x="6207646" y="35405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5" name="Google Shape;285;p25"/>
            <p:cNvSpPr/>
            <p:nvPr/>
          </p:nvSpPr>
          <p:spPr>
            <a:xfrm>
              <a:off x="6266891" y="3540584"/>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6" name="Google Shape;286;p25"/>
            <p:cNvSpPr/>
            <p:nvPr/>
          </p:nvSpPr>
          <p:spPr>
            <a:xfrm>
              <a:off x="6326042" y="3540584"/>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7" name="Google Shape;287;p25"/>
            <p:cNvSpPr/>
            <p:nvPr/>
          </p:nvSpPr>
          <p:spPr>
            <a:xfrm>
              <a:off x="6385288" y="3540586"/>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8" name="Google Shape;288;p25"/>
            <p:cNvSpPr/>
            <p:nvPr/>
          </p:nvSpPr>
          <p:spPr>
            <a:xfrm>
              <a:off x="6444437" y="3540588"/>
              <a:ext cx="14096" cy="14097"/>
            </a:xfrm>
            <a:custGeom>
              <a:rect b="b" l="l" r="r" t="t"/>
              <a:pathLst>
                <a:path extrusionOk="0" h="14097" w="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89" name="Google Shape;289;p25"/>
            <p:cNvSpPr/>
            <p:nvPr/>
          </p:nvSpPr>
          <p:spPr>
            <a:xfrm>
              <a:off x="6148495" y="3599737"/>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0" name="Google Shape;290;p25"/>
            <p:cNvSpPr/>
            <p:nvPr/>
          </p:nvSpPr>
          <p:spPr>
            <a:xfrm>
              <a:off x="6207646" y="3599737"/>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1" name="Google Shape;291;p25"/>
            <p:cNvSpPr/>
            <p:nvPr/>
          </p:nvSpPr>
          <p:spPr>
            <a:xfrm>
              <a:off x="6266891" y="3599737"/>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2" name="Google Shape;292;p25"/>
            <p:cNvSpPr/>
            <p:nvPr/>
          </p:nvSpPr>
          <p:spPr>
            <a:xfrm>
              <a:off x="6326042" y="3599737"/>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3" name="Google Shape;293;p25"/>
            <p:cNvSpPr/>
            <p:nvPr/>
          </p:nvSpPr>
          <p:spPr>
            <a:xfrm>
              <a:off x="6385288" y="3599735"/>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4" name="Google Shape;294;p25"/>
            <p:cNvSpPr/>
            <p:nvPr/>
          </p:nvSpPr>
          <p:spPr>
            <a:xfrm>
              <a:off x="6444437" y="3599737"/>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5" name="Google Shape;295;p25"/>
            <p:cNvSpPr/>
            <p:nvPr/>
          </p:nvSpPr>
          <p:spPr>
            <a:xfrm>
              <a:off x="6148495" y="3658981"/>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6" name="Google Shape;296;p25"/>
            <p:cNvSpPr/>
            <p:nvPr/>
          </p:nvSpPr>
          <p:spPr>
            <a:xfrm>
              <a:off x="6207646" y="36589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7" name="Google Shape;297;p25"/>
            <p:cNvSpPr/>
            <p:nvPr/>
          </p:nvSpPr>
          <p:spPr>
            <a:xfrm>
              <a:off x="6266891" y="3658981"/>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8" name="Google Shape;298;p25"/>
            <p:cNvSpPr/>
            <p:nvPr/>
          </p:nvSpPr>
          <p:spPr>
            <a:xfrm>
              <a:off x="6326042" y="36589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299" name="Google Shape;299;p25"/>
            <p:cNvSpPr/>
            <p:nvPr/>
          </p:nvSpPr>
          <p:spPr>
            <a:xfrm>
              <a:off x="6385288" y="3658981"/>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0" name="Google Shape;300;p25"/>
            <p:cNvSpPr/>
            <p:nvPr/>
          </p:nvSpPr>
          <p:spPr>
            <a:xfrm>
              <a:off x="6444441" y="3658979"/>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1" name="Google Shape;301;p25"/>
            <p:cNvSpPr/>
            <p:nvPr/>
          </p:nvSpPr>
          <p:spPr>
            <a:xfrm>
              <a:off x="6148499" y="3718130"/>
              <a:ext cx="14097" cy="14096"/>
            </a:xfrm>
            <a:custGeom>
              <a:rect b="b" l="l" r="r" t="t"/>
              <a:pathLst>
                <a:path extrusionOk="0" h="14096" w="14097">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2" name="Google Shape;302;p25"/>
            <p:cNvSpPr/>
            <p:nvPr/>
          </p:nvSpPr>
          <p:spPr>
            <a:xfrm>
              <a:off x="6207650" y="3718130"/>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3" name="Google Shape;303;p25"/>
            <p:cNvSpPr/>
            <p:nvPr/>
          </p:nvSpPr>
          <p:spPr>
            <a:xfrm>
              <a:off x="6266895" y="3718130"/>
              <a:ext cx="14096" cy="14096"/>
            </a:xfrm>
            <a:custGeom>
              <a:rect b="b" l="l" r="r" t="t"/>
              <a:pathLst>
                <a:path extrusionOk="0" h="14096" w="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4" name="Google Shape;304;p25"/>
            <p:cNvSpPr/>
            <p:nvPr/>
          </p:nvSpPr>
          <p:spPr>
            <a:xfrm>
              <a:off x="6326045" y="3718130"/>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5" name="Google Shape;305;p25"/>
            <p:cNvSpPr/>
            <p:nvPr/>
          </p:nvSpPr>
          <p:spPr>
            <a:xfrm>
              <a:off x="6385292" y="3718128"/>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6" name="Google Shape;306;p25"/>
            <p:cNvSpPr/>
            <p:nvPr/>
          </p:nvSpPr>
          <p:spPr>
            <a:xfrm>
              <a:off x="6444440" y="3718133"/>
              <a:ext cx="14096" cy="14096"/>
            </a:xfrm>
            <a:custGeom>
              <a:rect b="b" l="l" r="r" t="t"/>
              <a:pathLst>
                <a:path extrusionOk="0" h="14096" w="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7" name="Google Shape;307;p25"/>
            <p:cNvSpPr/>
            <p:nvPr/>
          </p:nvSpPr>
          <p:spPr>
            <a:xfrm>
              <a:off x="6148495" y="3777375"/>
              <a:ext cx="14097" cy="14099"/>
            </a:xfrm>
            <a:custGeom>
              <a:rect b="b" l="l" r="r" t="t"/>
              <a:pathLst>
                <a:path extrusionOk="0" h="14099" w="14097">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8" name="Google Shape;308;p25"/>
            <p:cNvSpPr/>
            <p:nvPr/>
          </p:nvSpPr>
          <p:spPr>
            <a:xfrm>
              <a:off x="6207650" y="3777375"/>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09" name="Google Shape;309;p25"/>
            <p:cNvSpPr/>
            <p:nvPr/>
          </p:nvSpPr>
          <p:spPr>
            <a:xfrm>
              <a:off x="6266896" y="3777375"/>
              <a:ext cx="14096" cy="14099"/>
            </a:xfrm>
            <a:custGeom>
              <a:rect b="b" l="l" r="r" t="t"/>
              <a:pathLst>
                <a:path extrusionOk="0" h="14099" w="14096">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10" name="Google Shape;310;p25"/>
            <p:cNvSpPr/>
            <p:nvPr/>
          </p:nvSpPr>
          <p:spPr>
            <a:xfrm>
              <a:off x="6326055" y="3777354"/>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11" name="Google Shape;311;p25"/>
            <p:cNvSpPr/>
            <p:nvPr/>
          </p:nvSpPr>
          <p:spPr>
            <a:xfrm>
              <a:off x="6385314" y="3777450"/>
              <a:ext cx="14096" cy="14099"/>
            </a:xfrm>
            <a:custGeom>
              <a:rect b="b" l="l" r="r" t="t"/>
              <a:pathLst>
                <a:path extrusionOk="0" h="14099" w="14096">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sp>
          <p:nvSpPr>
            <p:cNvPr id="312" name="Google Shape;312;p25"/>
            <p:cNvSpPr/>
            <p:nvPr/>
          </p:nvSpPr>
          <p:spPr>
            <a:xfrm>
              <a:off x="6444424" y="3777424"/>
              <a:ext cx="14096" cy="14096"/>
            </a:xfrm>
            <a:custGeom>
              <a:rect b="b" l="l" r="r" t="t"/>
              <a:pathLst>
                <a:path extrusionOk="0" h="14096" w="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solidFill>
              <a:schemeClr val="l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Arial"/>
                <a:ea typeface="Arial"/>
                <a:cs typeface="Arial"/>
                <a:sym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17" name="Shape 317"/>
        <p:cNvGrpSpPr/>
        <p:nvPr/>
      </p:nvGrpSpPr>
      <p:grpSpPr>
        <a:xfrm>
          <a:off x="0" y="0"/>
          <a:ext cx="0" cy="0"/>
          <a:chOff x="0" y="0"/>
          <a:chExt cx="0" cy="0"/>
        </a:xfrm>
      </p:grpSpPr>
      <p:sp>
        <p:nvSpPr>
          <p:cNvPr id="318" name="Google Shape;318;p26"/>
          <p:cNvSpPr/>
          <p:nvPr/>
        </p:nvSpPr>
        <p:spPr>
          <a:xfrm>
            <a:off x="0" y="0"/>
            <a:ext cx="9144000"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19" name="Google Shape;319;p26"/>
          <p:cNvSpPr/>
          <p:nvPr/>
        </p:nvSpPr>
        <p:spPr>
          <a:xfrm flipH="1">
            <a:off x="-1" y="-1"/>
            <a:ext cx="9143999" cy="1193056"/>
          </a:xfrm>
          <a:prstGeom prst="rect">
            <a:avLst/>
          </a:prstGeom>
          <a:gradFill>
            <a:gsLst>
              <a:gs pos="0">
                <a:srgbClr val="000000"/>
              </a:gs>
              <a:gs pos="100000">
                <a:srgbClr val="0F4861"/>
              </a:gs>
            </a:gsLst>
            <a:lin ang="84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20" name="Google Shape;320;p26"/>
          <p:cNvSpPr/>
          <p:nvPr/>
        </p:nvSpPr>
        <p:spPr>
          <a:xfrm flipH="1" rot="10800000">
            <a:off x="-2" y="0"/>
            <a:ext cx="6086480" cy="1193056"/>
          </a:xfrm>
          <a:prstGeom prst="rect">
            <a:avLst/>
          </a:prstGeom>
          <a:gradFill>
            <a:gsLst>
              <a:gs pos="0">
                <a:srgbClr val="156082">
                  <a:alpha val="0"/>
                </a:srgbClr>
              </a:gs>
              <a:gs pos="20000">
                <a:srgbClr val="156082">
                  <a:alpha val="0"/>
                </a:srgbClr>
              </a:gs>
              <a:gs pos="100000">
                <a:srgbClr val="0A3041">
                  <a:alpha val="54901"/>
                </a:srgbClr>
              </a:gs>
            </a:gsLst>
            <a:lin ang="13800001"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21" name="Google Shape;321;p26"/>
          <p:cNvSpPr/>
          <p:nvPr/>
        </p:nvSpPr>
        <p:spPr>
          <a:xfrm flipH="1">
            <a:off x="6086474" y="-1"/>
            <a:ext cx="3057524" cy="1193056"/>
          </a:xfrm>
          <a:prstGeom prst="rect">
            <a:avLst/>
          </a:prstGeom>
          <a:gradFill>
            <a:gsLst>
              <a:gs pos="0">
                <a:srgbClr val="156082">
                  <a:alpha val="65882"/>
                </a:srgbClr>
              </a:gs>
              <a:gs pos="100000">
                <a:srgbClr val="000000">
                  <a:alpha val="30196"/>
                </a:srgbClr>
              </a:gs>
            </a:gsLst>
            <a:lin ang="132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22" name="Google Shape;322;p26"/>
          <p:cNvSpPr/>
          <p:nvPr/>
        </p:nvSpPr>
        <p:spPr>
          <a:xfrm>
            <a:off x="344513" y="-1"/>
            <a:ext cx="8799485" cy="1198075"/>
          </a:xfrm>
          <a:prstGeom prst="rect">
            <a:avLst/>
          </a:prstGeom>
          <a:gradFill>
            <a:gsLst>
              <a:gs pos="0">
                <a:srgbClr val="000000">
                  <a:alpha val="0"/>
                </a:srgbClr>
              </a:gs>
              <a:gs pos="50000">
                <a:srgbClr val="000000">
                  <a:alpha val="0"/>
                </a:srgbClr>
              </a:gs>
              <a:gs pos="99000">
                <a:srgbClr val="0A3041">
                  <a:alpha val="52156"/>
                </a:srgbClr>
              </a:gs>
              <a:gs pos="100000">
                <a:srgbClr val="0A3041">
                  <a:alpha val="52156"/>
                </a:srgbClr>
              </a:gs>
            </a:gsLst>
            <a:lin ang="168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23" name="Google Shape;323;p26"/>
          <p:cNvSpPr txBox="1"/>
          <p:nvPr>
            <p:ph type="title"/>
          </p:nvPr>
        </p:nvSpPr>
        <p:spPr>
          <a:xfrm>
            <a:off x="1028699" y="220903"/>
            <a:ext cx="7421963" cy="775252"/>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FFFFFF"/>
              </a:buClr>
              <a:buSzPts val="3000"/>
              <a:buFont typeface="Play"/>
              <a:buNone/>
            </a:pPr>
            <a:r>
              <a:rPr lang="en" sz="3000">
                <a:solidFill>
                  <a:srgbClr val="FFFFFF"/>
                </a:solidFill>
              </a:rPr>
              <a:t>Executive Summary </a:t>
            </a:r>
            <a:endParaRPr/>
          </a:p>
        </p:txBody>
      </p:sp>
      <p:sp>
        <p:nvSpPr>
          <p:cNvPr id="324" name="Google Shape;324;p26"/>
          <p:cNvSpPr txBox="1"/>
          <p:nvPr>
            <p:ph idx="1" type="body"/>
          </p:nvPr>
        </p:nvSpPr>
        <p:spPr>
          <a:xfrm>
            <a:off x="925486" y="2160078"/>
            <a:ext cx="7293023" cy="2762518"/>
          </a:xfrm>
          <a:prstGeom prst="rect">
            <a:avLst/>
          </a:prstGeom>
          <a:noFill/>
          <a:ln>
            <a:noFill/>
          </a:ln>
        </p:spPr>
        <p:txBody>
          <a:bodyPr anchorCtr="0" anchor="ctr" bIns="34275" lIns="68575" spcFirstLastPara="1" rIns="68575" wrap="square" tIns="34275">
            <a:noAutofit/>
          </a:bodyPr>
          <a:lstStyle/>
          <a:p>
            <a:pPr indent="-177800" lvl="0" marL="177800" rtl="0" algn="l">
              <a:lnSpc>
                <a:spcPct val="90000"/>
              </a:lnSpc>
              <a:spcBef>
                <a:spcPts val="0"/>
              </a:spcBef>
              <a:spcAft>
                <a:spcPts val="0"/>
              </a:spcAft>
              <a:buClr>
                <a:schemeClr val="dk1"/>
              </a:buClr>
              <a:buSzPts val="900"/>
              <a:buNone/>
            </a:pPr>
            <a:r>
              <a:rPr b="1" i="0" lang="en" sz="900"/>
              <a:t>Business Context</a:t>
            </a:r>
            <a:endParaRPr/>
          </a:p>
          <a:p>
            <a:pPr indent="-171450" lvl="0" marL="177800" rtl="0" algn="l">
              <a:lnSpc>
                <a:spcPct val="90000"/>
              </a:lnSpc>
              <a:spcBef>
                <a:spcPts val="500"/>
              </a:spcBef>
              <a:spcAft>
                <a:spcPts val="0"/>
              </a:spcAft>
              <a:buClr>
                <a:schemeClr val="dk1"/>
              </a:buClr>
              <a:buSzPts val="900"/>
              <a:buChar char="•"/>
            </a:pPr>
            <a:r>
              <a:rPr i="0" lang="en" sz="900"/>
              <a:t>Corporate credit card fraud results in avoidable financial losses, delayed reimbursement cycles, and added operational burden.</a:t>
            </a:r>
            <a:endParaRPr/>
          </a:p>
          <a:p>
            <a:pPr indent="-171450" lvl="0" marL="177800" rtl="0" algn="l">
              <a:lnSpc>
                <a:spcPct val="90000"/>
              </a:lnSpc>
              <a:spcBef>
                <a:spcPts val="500"/>
              </a:spcBef>
              <a:spcAft>
                <a:spcPts val="0"/>
              </a:spcAft>
              <a:buClr>
                <a:schemeClr val="dk1"/>
              </a:buClr>
              <a:buSzPts val="900"/>
              <a:buChar char="•"/>
            </a:pPr>
            <a:r>
              <a:rPr lang="en" sz="900"/>
              <a:t>Manual review is reactive, inconsistent, and not scalable as transaction volumes grow.</a:t>
            </a:r>
            <a:endParaRPr/>
          </a:p>
          <a:p>
            <a:pPr indent="-177800" lvl="0" marL="177800" rtl="0" algn="l">
              <a:lnSpc>
                <a:spcPct val="90000"/>
              </a:lnSpc>
              <a:spcBef>
                <a:spcPts val="500"/>
              </a:spcBef>
              <a:spcAft>
                <a:spcPts val="0"/>
              </a:spcAft>
              <a:buClr>
                <a:schemeClr val="dk1"/>
              </a:buClr>
              <a:buSzPts val="900"/>
              <a:buNone/>
            </a:pPr>
            <a:r>
              <a:rPr b="1" i="0" lang="en" sz="900"/>
              <a:t>Business Value</a:t>
            </a:r>
            <a:endParaRPr/>
          </a:p>
          <a:p>
            <a:pPr indent="-171450" lvl="0" marL="177800" rtl="0" algn="l">
              <a:lnSpc>
                <a:spcPct val="90000"/>
              </a:lnSpc>
              <a:spcBef>
                <a:spcPts val="500"/>
              </a:spcBef>
              <a:spcAft>
                <a:spcPts val="0"/>
              </a:spcAft>
              <a:buClr>
                <a:schemeClr val="dk1"/>
              </a:buClr>
              <a:buSzPts val="900"/>
              <a:buChar char="•"/>
            </a:pPr>
            <a:r>
              <a:rPr i="0" lang="en" sz="900"/>
              <a:t>Reduce reimbursement of fraudulent charges before they impact financial statements.</a:t>
            </a:r>
            <a:endParaRPr/>
          </a:p>
          <a:p>
            <a:pPr indent="-171450" lvl="0" marL="177800" rtl="0" algn="l">
              <a:lnSpc>
                <a:spcPct val="90000"/>
              </a:lnSpc>
              <a:spcBef>
                <a:spcPts val="500"/>
              </a:spcBef>
              <a:spcAft>
                <a:spcPts val="0"/>
              </a:spcAft>
              <a:buClr>
                <a:schemeClr val="dk1"/>
              </a:buClr>
              <a:buSzPts val="900"/>
              <a:buChar char="•"/>
            </a:pPr>
            <a:r>
              <a:rPr i="0" lang="en" sz="900"/>
              <a:t>Accelerate compliance review with automated triaging of suspicious activity.</a:t>
            </a:r>
            <a:endParaRPr/>
          </a:p>
          <a:p>
            <a:pPr indent="-171450" lvl="0" marL="177800" rtl="0" algn="l">
              <a:lnSpc>
                <a:spcPct val="90000"/>
              </a:lnSpc>
              <a:spcBef>
                <a:spcPts val="500"/>
              </a:spcBef>
              <a:spcAft>
                <a:spcPts val="0"/>
              </a:spcAft>
              <a:buClr>
                <a:schemeClr val="dk1"/>
              </a:buClr>
              <a:buSzPts val="900"/>
              <a:buChar char="•"/>
            </a:pPr>
            <a:r>
              <a:rPr i="0" lang="en" sz="900"/>
              <a:t>Improve audit readiness through consistent, data‑driven fraud detection.</a:t>
            </a:r>
            <a:endParaRPr/>
          </a:p>
          <a:p>
            <a:pPr indent="-177800" lvl="0" marL="177800" rtl="0" algn="l">
              <a:lnSpc>
                <a:spcPct val="90000"/>
              </a:lnSpc>
              <a:spcBef>
                <a:spcPts val="500"/>
              </a:spcBef>
              <a:spcAft>
                <a:spcPts val="0"/>
              </a:spcAft>
              <a:buClr>
                <a:schemeClr val="dk1"/>
              </a:buClr>
              <a:buSzPts val="900"/>
              <a:buNone/>
            </a:pPr>
            <a:r>
              <a:rPr b="1" lang="en" sz="900"/>
              <a:t>What We Did</a:t>
            </a:r>
            <a:endParaRPr/>
          </a:p>
          <a:p>
            <a:pPr indent="-171450" lvl="0" marL="177800" rtl="0" algn="l">
              <a:lnSpc>
                <a:spcPct val="90000"/>
              </a:lnSpc>
              <a:spcBef>
                <a:spcPts val="500"/>
              </a:spcBef>
              <a:spcAft>
                <a:spcPts val="0"/>
              </a:spcAft>
              <a:buClr>
                <a:schemeClr val="dk1"/>
              </a:buClr>
              <a:buSzPts val="900"/>
              <a:buChar char="•"/>
            </a:pPr>
            <a:r>
              <a:rPr lang="en" sz="900"/>
              <a:t>Analyzed the Kaggle Credit Card Fraud dataset to replicate corporate card behaviors.</a:t>
            </a:r>
            <a:endParaRPr/>
          </a:p>
          <a:p>
            <a:pPr indent="-171450" lvl="0" marL="177800" rtl="0" algn="l">
              <a:lnSpc>
                <a:spcPct val="90000"/>
              </a:lnSpc>
              <a:spcBef>
                <a:spcPts val="500"/>
              </a:spcBef>
              <a:spcAft>
                <a:spcPts val="0"/>
              </a:spcAft>
              <a:buClr>
                <a:schemeClr val="dk1"/>
              </a:buClr>
              <a:buSzPts val="900"/>
              <a:buChar char="•"/>
            </a:pPr>
            <a:r>
              <a:rPr lang="en" sz="900"/>
              <a:t>Conducted exploratory data analysis (EDA) and built three machine learning models: K‑Nearest Neighbors (KNN), Logistic Regression, Random Forest Classifier</a:t>
            </a:r>
            <a:endParaRPr/>
          </a:p>
          <a:p>
            <a:pPr indent="0" lvl="0" marL="0" rtl="0" algn="l">
              <a:lnSpc>
                <a:spcPct val="90000"/>
              </a:lnSpc>
              <a:spcBef>
                <a:spcPts val="500"/>
              </a:spcBef>
              <a:spcAft>
                <a:spcPts val="0"/>
              </a:spcAft>
              <a:buClr>
                <a:schemeClr val="dk1"/>
              </a:buClr>
              <a:buSzPts val="900"/>
              <a:buNone/>
            </a:pPr>
            <a:r>
              <a:rPr b="1" lang="en" sz="900"/>
              <a:t>Key Findings</a:t>
            </a:r>
            <a:endParaRPr/>
          </a:p>
          <a:p>
            <a:pPr indent="-171450" lvl="0" marL="177800" rtl="0" algn="l">
              <a:lnSpc>
                <a:spcPct val="90000"/>
              </a:lnSpc>
              <a:spcBef>
                <a:spcPts val="500"/>
              </a:spcBef>
              <a:spcAft>
                <a:spcPts val="0"/>
              </a:spcAft>
              <a:buClr>
                <a:schemeClr val="dk1"/>
              </a:buClr>
              <a:buSzPts val="900"/>
              <a:buChar char="•"/>
            </a:pPr>
            <a:r>
              <a:rPr lang="en" sz="900"/>
              <a:t>Fraud cases are extremely rare (&lt;0.2%), requiring models optimized for precision + recall, not accuracy.</a:t>
            </a:r>
            <a:endParaRPr/>
          </a:p>
          <a:p>
            <a:pPr indent="-171450" lvl="0" marL="177800" rtl="0" algn="l">
              <a:lnSpc>
                <a:spcPct val="90000"/>
              </a:lnSpc>
              <a:spcBef>
                <a:spcPts val="500"/>
              </a:spcBef>
              <a:spcAft>
                <a:spcPts val="0"/>
              </a:spcAft>
              <a:buClr>
                <a:schemeClr val="dk1"/>
              </a:buClr>
              <a:buSzPts val="900"/>
              <a:buChar char="•"/>
            </a:pPr>
            <a:r>
              <a:rPr lang="en" sz="900"/>
              <a:t>Random Forest outperformed others, offering: </a:t>
            </a:r>
            <a:endParaRPr/>
          </a:p>
          <a:p>
            <a:pPr indent="-171450" lvl="1" marL="520700" rtl="0" algn="l">
              <a:lnSpc>
                <a:spcPct val="90000"/>
              </a:lnSpc>
              <a:spcBef>
                <a:spcPts val="500"/>
              </a:spcBef>
              <a:spcAft>
                <a:spcPts val="0"/>
              </a:spcAft>
              <a:buClr>
                <a:schemeClr val="dk1"/>
              </a:buClr>
              <a:buSzPts val="900"/>
              <a:buChar char="•"/>
            </a:pPr>
            <a:r>
              <a:rPr lang="en" sz="900"/>
              <a:t>Strong ability to detect subtle fraud patterns</a:t>
            </a:r>
            <a:endParaRPr/>
          </a:p>
          <a:p>
            <a:pPr indent="-171450" lvl="1" marL="520700" rtl="0" algn="l">
              <a:lnSpc>
                <a:spcPct val="90000"/>
              </a:lnSpc>
              <a:spcBef>
                <a:spcPts val="500"/>
              </a:spcBef>
              <a:spcAft>
                <a:spcPts val="0"/>
              </a:spcAft>
              <a:buClr>
                <a:schemeClr val="dk1"/>
              </a:buClr>
              <a:buSzPts val="900"/>
              <a:buChar char="•"/>
            </a:pPr>
            <a:r>
              <a:rPr lang="en" sz="900"/>
              <a:t>High interpretability through feature importance</a:t>
            </a:r>
            <a:endParaRPr/>
          </a:p>
          <a:p>
            <a:pPr indent="-171450" lvl="1" marL="520700" rtl="0" algn="l">
              <a:lnSpc>
                <a:spcPct val="90000"/>
              </a:lnSpc>
              <a:spcBef>
                <a:spcPts val="500"/>
              </a:spcBef>
              <a:spcAft>
                <a:spcPts val="0"/>
              </a:spcAft>
              <a:buClr>
                <a:schemeClr val="dk1"/>
              </a:buClr>
              <a:buSzPts val="900"/>
              <a:buChar char="•"/>
            </a:pPr>
            <a:r>
              <a:rPr lang="en" sz="900"/>
              <a:t>Robustness to noise and imbalanced data</a:t>
            </a:r>
            <a:endParaRPr b="1" sz="900"/>
          </a:p>
          <a:p>
            <a:pPr indent="-177800" lvl="0" marL="177800" rtl="0" algn="l">
              <a:lnSpc>
                <a:spcPct val="90000"/>
              </a:lnSpc>
              <a:spcBef>
                <a:spcPts val="500"/>
              </a:spcBef>
              <a:spcAft>
                <a:spcPts val="0"/>
              </a:spcAft>
              <a:buClr>
                <a:schemeClr val="dk1"/>
              </a:buClr>
              <a:buSzPts val="900"/>
              <a:buNone/>
            </a:pPr>
            <a:r>
              <a:rPr b="1" i="0" lang="en" sz="900"/>
              <a:t>Recommendation</a:t>
            </a:r>
            <a:endParaRPr/>
          </a:p>
          <a:p>
            <a:pPr indent="-177800" lvl="0" marL="177800" rtl="0" algn="l">
              <a:lnSpc>
                <a:spcPct val="90000"/>
              </a:lnSpc>
              <a:spcBef>
                <a:spcPts val="500"/>
              </a:spcBef>
              <a:spcAft>
                <a:spcPts val="0"/>
              </a:spcAft>
              <a:buClr>
                <a:schemeClr val="dk1"/>
              </a:buClr>
              <a:buSzPts val="900"/>
              <a:buNone/>
            </a:pPr>
            <a:r>
              <a:rPr i="0" lang="en" sz="900"/>
              <a:t>Proceed with a pilot deployment of the Random Forest model integrated into the reimbursement workflow to auto‑score transactions, surface high‑risk items to reviewers</a:t>
            </a:r>
            <a:r>
              <a:rPr lang="en" sz="900"/>
              <a:t>.</a:t>
            </a:r>
            <a:endParaRPr i="0" sz="900"/>
          </a:p>
          <a:p>
            <a:pPr indent="-114300" lvl="0" marL="177800" rtl="0" algn="l">
              <a:lnSpc>
                <a:spcPct val="90000"/>
              </a:lnSpc>
              <a:spcBef>
                <a:spcPts val="500"/>
              </a:spcBef>
              <a:spcAft>
                <a:spcPts val="0"/>
              </a:spcAft>
              <a:buClr>
                <a:schemeClr val="dk1"/>
              </a:buClr>
              <a:buSzPts val="900"/>
              <a:buNone/>
            </a:pPr>
            <a:r>
              <a:t/>
            </a:r>
            <a:endParaRPr sz="900"/>
          </a:p>
          <a:p>
            <a:pPr indent="-114300" lvl="0" marL="177800" rtl="0" algn="l">
              <a:lnSpc>
                <a:spcPct val="90000"/>
              </a:lnSpc>
              <a:spcBef>
                <a:spcPts val="500"/>
              </a:spcBef>
              <a:spcAft>
                <a:spcPts val="0"/>
              </a:spcAft>
              <a:buClr>
                <a:schemeClr val="dk1"/>
              </a:buClr>
              <a:buSzPts val="900"/>
              <a:buNone/>
            </a:pPr>
            <a:r>
              <a:t/>
            </a:r>
            <a:endParaRPr sz="900"/>
          </a:p>
          <a:p>
            <a:pPr indent="-152400" lvl="1" marL="558800" rtl="0" algn="l">
              <a:lnSpc>
                <a:spcPct val="90000"/>
              </a:lnSpc>
              <a:spcBef>
                <a:spcPts val="500"/>
              </a:spcBef>
              <a:spcAft>
                <a:spcPts val="0"/>
              </a:spcAft>
              <a:buClr>
                <a:schemeClr val="dk1"/>
              </a:buClr>
              <a:buSzPts val="900"/>
              <a:buNone/>
            </a:pPr>
            <a:r>
              <a:t/>
            </a:r>
            <a:endParaRPr i="0" sz="900"/>
          </a:p>
          <a:p>
            <a:pPr indent="0" lvl="0" marL="0" rtl="0" algn="l">
              <a:lnSpc>
                <a:spcPct val="90000"/>
              </a:lnSpc>
              <a:spcBef>
                <a:spcPts val="500"/>
              </a:spcBef>
              <a:spcAft>
                <a:spcPts val="0"/>
              </a:spcAft>
              <a:buClr>
                <a:schemeClr val="dk1"/>
              </a:buClr>
              <a:buSzPts val="900"/>
              <a:buNone/>
            </a:pPr>
            <a:r>
              <a:t/>
            </a:r>
            <a:endParaRPr sz="9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8" name="Shape 328"/>
        <p:cNvGrpSpPr/>
        <p:nvPr/>
      </p:nvGrpSpPr>
      <p:grpSpPr>
        <a:xfrm>
          <a:off x="0" y="0"/>
          <a:ext cx="0" cy="0"/>
          <a:chOff x="0" y="0"/>
          <a:chExt cx="0" cy="0"/>
        </a:xfrm>
      </p:grpSpPr>
      <p:sp>
        <p:nvSpPr>
          <p:cNvPr id="329" name="Google Shape;329;p27"/>
          <p:cNvSpPr/>
          <p:nvPr/>
        </p:nvSpPr>
        <p:spPr>
          <a:xfrm>
            <a:off x="0" y="1"/>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30" name="Google Shape;330;p27"/>
          <p:cNvSpPr/>
          <p:nvPr/>
        </p:nvSpPr>
        <p:spPr>
          <a:xfrm>
            <a:off x="229" y="0"/>
            <a:ext cx="9143700"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Clr>
                <a:srgbClr val="000000"/>
              </a:buClr>
              <a:buFont typeface="Arial"/>
              <a:buNone/>
            </a:pPr>
            <a:r>
              <a:t/>
            </a:r>
            <a:endParaRPr sz="600">
              <a:solidFill>
                <a:schemeClr val="lt1"/>
              </a:solidFill>
              <a:latin typeface="Arial"/>
              <a:ea typeface="Arial"/>
              <a:cs typeface="Arial"/>
              <a:sym typeface="Arial"/>
            </a:endParaRPr>
          </a:p>
        </p:txBody>
      </p:sp>
      <p:sp>
        <p:nvSpPr>
          <p:cNvPr id="331" name="Google Shape;331;p27"/>
          <p:cNvSpPr txBox="1"/>
          <p:nvPr>
            <p:ph type="title"/>
          </p:nvPr>
        </p:nvSpPr>
        <p:spPr>
          <a:xfrm>
            <a:off x="369400" y="488675"/>
            <a:ext cx="3303600" cy="477600"/>
          </a:xfrm>
          <a:prstGeom prst="rect">
            <a:avLst/>
          </a:prstGeom>
          <a:noFill/>
          <a:ln>
            <a:noFill/>
          </a:ln>
        </p:spPr>
        <p:txBody>
          <a:bodyPr anchorCtr="0" anchor="ctr" bIns="34275" lIns="68575" spcFirstLastPara="1" rIns="68575" wrap="square" tIns="34275">
            <a:normAutofit fontScale="90000"/>
          </a:bodyPr>
          <a:lstStyle/>
          <a:p>
            <a:pPr indent="0" lvl="0" marL="0" rtl="0" algn="l">
              <a:spcBef>
                <a:spcPts val="0"/>
              </a:spcBef>
              <a:spcAft>
                <a:spcPts val="0"/>
              </a:spcAft>
              <a:buClr>
                <a:schemeClr val="dk2"/>
              </a:buClr>
              <a:buSzPct val="100000"/>
              <a:buFont typeface="Play"/>
              <a:buNone/>
            </a:pPr>
            <a:r>
              <a:rPr lang="en" sz="2700">
                <a:solidFill>
                  <a:schemeClr val="dk2"/>
                </a:solidFill>
              </a:rPr>
              <a:t>EDA</a:t>
            </a:r>
            <a:r>
              <a:rPr lang="en" sz="2700">
                <a:solidFill>
                  <a:schemeClr val="dk2"/>
                </a:solidFill>
              </a:rPr>
              <a:t> – Key Takeaways</a:t>
            </a:r>
            <a:endParaRPr/>
          </a:p>
          <a:p>
            <a:pPr indent="0" lvl="0" marL="0" rtl="0" algn="l">
              <a:lnSpc>
                <a:spcPct val="90000"/>
              </a:lnSpc>
              <a:spcBef>
                <a:spcPts val="0"/>
              </a:spcBef>
              <a:spcAft>
                <a:spcPts val="0"/>
              </a:spcAft>
              <a:buClr>
                <a:schemeClr val="dk2"/>
              </a:buClr>
              <a:buSzPct val="100000"/>
              <a:buFont typeface="Play"/>
              <a:buNone/>
            </a:pPr>
            <a:r>
              <a:t/>
            </a:r>
            <a:endParaRPr sz="2700">
              <a:solidFill>
                <a:schemeClr val="dk2"/>
              </a:solidFill>
            </a:endParaRPr>
          </a:p>
        </p:txBody>
      </p:sp>
      <p:grpSp>
        <p:nvGrpSpPr>
          <p:cNvPr id="332" name="Google Shape;332;p27"/>
          <p:cNvGrpSpPr/>
          <p:nvPr/>
        </p:nvGrpSpPr>
        <p:grpSpPr>
          <a:xfrm>
            <a:off x="3673011" y="3964"/>
            <a:ext cx="5470990" cy="5143500"/>
            <a:chOff x="4897348" y="-5799"/>
            <a:chExt cx="7294653" cy="6858000"/>
          </a:xfrm>
        </p:grpSpPr>
        <p:sp>
          <p:nvSpPr>
            <p:cNvPr id="333" name="Google Shape;333;p27"/>
            <p:cNvSpPr/>
            <p:nvPr/>
          </p:nvSpPr>
          <p:spPr>
            <a:xfrm>
              <a:off x="4897348" y="-5798"/>
              <a:ext cx="7294652" cy="6857999"/>
            </a:xfrm>
            <a:custGeom>
              <a:rect b="b" l="l" r="r" t="t"/>
              <a:pathLst>
                <a:path extrusionOk="0" h="6857999" w="7294652">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34" name="Google Shape;334;p27"/>
            <p:cNvSpPr/>
            <p:nvPr/>
          </p:nvSpPr>
          <p:spPr>
            <a:xfrm>
              <a:off x="4900650" y="-5799"/>
              <a:ext cx="7291350" cy="6858000"/>
            </a:xfrm>
            <a:custGeom>
              <a:rect b="b" l="l" r="r" t="t"/>
              <a:pathLst>
                <a:path extrusionOk="0" h="6858000" w="729135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35" name="Google Shape;335;p27"/>
            <p:cNvSpPr/>
            <p:nvPr/>
          </p:nvSpPr>
          <p:spPr>
            <a:xfrm>
              <a:off x="4922894" y="-5799"/>
              <a:ext cx="7269107" cy="6858000"/>
            </a:xfrm>
            <a:custGeom>
              <a:rect b="b" l="l" r="r" t="t"/>
              <a:pathLst>
                <a:path extrusionOk="0" h="6858000" w="7269107">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a:gsLst>
                <a:gs pos="0">
                  <a:srgbClr val="FFFFFF">
                    <a:alpha val="10196"/>
                  </a:srgbClr>
                </a:gs>
                <a:gs pos="2000">
                  <a:srgbClr val="FFFFFF">
                    <a:alpha val="10196"/>
                  </a:srgbClr>
                </a:gs>
                <a:gs pos="5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sp>
        <p:nvSpPr>
          <p:cNvPr id="336" name="Google Shape;336;p27"/>
          <p:cNvSpPr txBox="1"/>
          <p:nvPr>
            <p:ph type="title"/>
          </p:nvPr>
        </p:nvSpPr>
        <p:spPr>
          <a:xfrm>
            <a:off x="369400" y="868800"/>
            <a:ext cx="3431700" cy="3931200"/>
          </a:xfrm>
          <a:prstGeom prst="rect">
            <a:avLst/>
          </a:prstGeom>
          <a:noFill/>
          <a:ln>
            <a:noFill/>
          </a:ln>
        </p:spPr>
        <p:txBody>
          <a:bodyPr anchorCtr="0" anchor="ctr" bIns="34275" lIns="68575" spcFirstLastPara="1" rIns="68575" wrap="square" tIns="34275">
            <a:normAutofit fontScale="90000"/>
          </a:bodyPr>
          <a:lstStyle/>
          <a:p>
            <a:pPr indent="-168910" lvl="0" marL="177800" rtl="0" algn="l">
              <a:spcBef>
                <a:spcPts val="0"/>
              </a:spcBef>
              <a:spcAft>
                <a:spcPts val="0"/>
              </a:spcAft>
              <a:buClr>
                <a:schemeClr val="dk2"/>
              </a:buClr>
              <a:buSzPct val="100000"/>
              <a:buFont typeface="Arial"/>
              <a:buChar char="•"/>
            </a:pPr>
            <a:r>
              <a:rPr lang="en" sz="1400">
                <a:solidFill>
                  <a:schemeClr val="dk2"/>
                </a:solidFill>
                <a:latin typeface="Arial"/>
                <a:ea typeface="Arial"/>
                <a:cs typeface="Arial"/>
                <a:sym typeface="Arial"/>
              </a:rPr>
              <a:t>Sub-Sample: </a:t>
            </a:r>
            <a:endParaRPr sz="1400">
              <a:solidFill>
                <a:schemeClr val="dk2"/>
              </a:solidFill>
              <a:latin typeface="Arial"/>
              <a:ea typeface="Arial"/>
              <a:cs typeface="Arial"/>
              <a:sym typeface="Arial"/>
            </a:endParaRPr>
          </a:p>
          <a:p>
            <a:pPr indent="-151765" lvl="1" marL="520700" rtl="0" algn="l">
              <a:spcBef>
                <a:spcPts val="0"/>
              </a:spcBef>
              <a:spcAft>
                <a:spcPts val="0"/>
              </a:spcAft>
              <a:buClr>
                <a:schemeClr val="dk2"/>
              </a:buClr>
              <a:buSzPct val="100000"/>
              <a:buChar char="•"/>
            </a:pPr>
            <a:r>
              <a:rPr lang="en" sz="1100">
                <a:solidFill>
                  <a:schemeClr val="dk2"/>
                </a:solidFill>
              </a:rPr>
              <a:t>U</a:t>
            </a:r>
            <a:r>
              <a:rPr lang="en" sz="1100">
                <a:solidFill>
                  <a:schemeClr val="dk2"/>
                </a:solidFill>
                <a:latin typeface="Arial"/>
                <a:ea typeface="Arial"/>
                <a:cs typeface="Arial"/>
                <a:sym typeface="Arial"/>
              </a:rPr>
              <a:t>nderfitting </a:t>
            </a:r>
            <a:endParaRPr sz="1100">
              <a:solidFill>
                <a:schemeClr val="dk2"/>
              </a:solidFill>
            </a:endParaRPr>
          </a:p>
          <a:p>
            <a:pPr indent="-151765" lvl="1" marL="520700" rtl="0" algn="l">
              <a:spcBef>
                <a:spcPts val="0"/>
              </a:spcBef>
              <a:spcAft>
                <a:spcPts val="0"/>
              </a:spcAft>
              <a:buClr>
                <a:schemeClr val="dk2"/>
              </a:buClr>
              <a:buSzPct val="100000"/>
              <a:buChar char="•"/>
            </a:pPr>
            <a:r>
              <a:rPr lang="en" sz="1100">
                <a:solidFill>
                  <a:schemeClr val="dk2"/>
                </a:solidFill>
              </a:rPr>
              <a:t>W</a:t>
            </a:r>
            <a:r>
              <a:rPr lang="en" sz="1100">
                <a:solidFill>
                  <a:schemeClr val="dk2"/>
                </a:solidFill>
                <a:latin typeface="Arial"/>
                <a:ea typeface="Arial"/>
                <a:cs typeface="Arial"/>
                <a:sym typeface="Arial"/>
              </a:rPr>
              <a:t>rong </a:t>
            </a:r>
            <a:r>
              <a:rPr lang="en" sz="1100">
                <a:solidFill>
                  <a:schemeClr val="dk2"/>
                </a:solidFill>
                <a:latin typeface="Arial"/>
                <a:ea typeface="Arial"/>
                <a:cs typeface="Arial"/>
                <a:sym typeface="Arial"/>
              </a:rPr>
              <a:t>correlation </a:t>
            </a:r>
            <a:endParaRPr sz="1100">
              <a:solidFill>
                <a:schemeClr val="dk2"/>
              </a:solidFill>
              <a:latin typeface="Arial"/>
              <a:ea typeface="Arial"/>
              <a:cs typeface="Arial"/>
              <a:sym typeface="Arial"/>
            </a:endParaRPr>
          </a:p>
          <a:p>
            <a:pPr indent="-151765" lvl="1" marL="520700" rtl="0" algn="l">
              <a:spcBef>
                <a:spcPts val="0"/>
              </a:spcBef>
              <a:spcAft>
                <a:spcPts val="0"/>
              </a:spcAft>
              <a:buClr>
                <a:schemeClr val="dk2"/>
              </a:buClr>
              <a:buSzPct val="100000"/>
              <a:buChar char="•"/>
            </a:pPr>
            <a:r>
              <a:rPr lang="en" sz="1100">
                <a:solidFill>
                  <a:schemeClr val="dk2"/>
                </a:solidFill>
                <a:latin typeface="Arial"/>
                <a:ea typeface="Arial"/>
                <a:cs typeface="Arial"/>
                <a:sym typeface="Arial"/>
              </a:rPr>
              <a:t>Random Under Sampling</a:t>
            </a:r>
            <a:endParaRPr sz="1100"/>
          </a:p>
          <a:p>
            <a:pPr indent="-151765" lvl="2" marL="863600" rtl="0" algn="l">
              <a:spcBef>
                <a:spcPts val="0"/>
              </a:spcBef>
              <a:spcAft>
                <a:spcPts val="0"/>
              </a:spcAft>
              <a:buClr>
                <a:schemeClr val="dk2"/>
              </a:buClr>
              <a:buSzPct val="100000"/>
              <a:buChar char="•"/>
            </a:pPr>
            <a:r>
              <a:rPr lang="en" sz="1100">
                <a:solidFill>
                  <a:schemeClr val="dk2"/>
                </a:solidFill>
              </a:rPr>
              <a:t>-</a:t>
            </a:r>
            <a:r>
              <a:rPr lang="en" sz="1100">
                <a:solidFill>
                  <a:schemeClr val="dk2"/>
                </a:solidFill>
                <a:latin typeface="Arial"/>
                <a:ea typeface="Arial"/>
                <a:cs typeface="Arial"/>
                <a:sym typeface="Arial"/>
              </a:rPr>
              <a:t>Corrs: V17, V14, V12 and V10</a:t>
            </a:r>
            <a:endParaRPr sz="1100">
              <a:solidFill>
                <a:schemeClr val="dk2"/>
              </a:solidFill>
            </a:endParaRPr>
          </a:p>
          <a:p>
            <a:pPr indent="-151765" lvl="2" marL="863600" rtl="0" algn="l">
              <a:spcBef>
                <a:spcPts val="0"/>
              </a:spcBef>
              <a:spcAft>
                <a:spcPts val="0"/>
              </a:spcAft>
              <a:buClr>
                <a:schemeClr val="dk2"/>
              </a:buClr>
              <a:buSzPct val="100000"/>
              <a:buChar char="•"/>
            </a:pPr>
            <a:r>
              <a:rPr lang="en" sz="1100">
                <a:solidFill>
                  <a:schemeClr val="dk2"/>
                </a:solidFill>
              </a:rPr>
              <a:t>+</a:t>
            </a:r>
            <a:r>
              <a:rPr lang="en" sz="1100">
                <a:solidFill>
                  <a:schemeClr val="dk2"/>
                </a:solidFill>
                <a:latin typeface="Arial"/>
                <a:ea typeface="Arial"/>
                <a:cs typeface="Arial"/>
                <a:sym typeface="Arial"/>
              </a:rPr>
              <a:t>Corr</a:t>
            </a:r>
            <a:r>
              <a:rPr lang="en" sz="1100">
                <a:solidFill>
                  <a:schemeClr val="dk2"/>
                </a:solidFill>
              </a:rPr>
              <a:t>s</a:t>
            </a:r>
            <a:r>
              <a:rPr lang="en" sz="1100">
                <a:solidFill>
                  <a:schemeClr val="dk2"/>
                </a:solidFill>
                <a:latin typeface="Arial"/>
                <a:ea typeface="Arial"/>
                <a:cs typeface="Arial"/>
                <a:sym typeface="Arial"/>
              </a:rPr>
              <a:t>: V2, V4, V11, and V19</a:t>
            </a:r>
            <a:endParaRPr sz="1100">
              <a:solidFill>
                <a:schemeClr val="dk2"/>
              </a:solidFill>
              <a:latin typeface="Arial"/>
              <a:ea typeface="Arial"/>
              <a:cs typeface="Arial"/>
              <a:sym typeface="Arial"/>
            </a:endParaRPr>
          </a:p>
          <a:p>
            <a:pPr indent="0" lvl="0" marL="177800" rtl="0" algn="l">
              <a:spcBef>
                <a:spcPts val="0"/>
              </a:spcBef>
              <a:spcAft>
                <a:spcPts val="0"/>
              </a:spcAft>
              <a:buNone/>
            </a:pPr>
            <a:r>
              <a:t/>
            </a:r>
            <a:endParaRPr>
              <a:solidFill>
                <a:schemeClr val="dk2"/>
              </a:solidFill>
            </a:endParaRPr>
          </a:p>
          <a:p>
            <a:pPr indent="-168910" lvl="0" marL="177800" rtl="0" algn="l">
              <a:lnSpc>
                <a:spcPct val="140000"/>
              </a:lnSpc>
              <a:spcBef>
                <a:spcPts val="0"/>
              </a:spcBef>
              <a:spcAft>
                <a:spcPts val="0"/>
              </a:spcAft>
              <a:buClr>
                <a:schemeClr val="dk2"/>
              </a:buClr>
              <a:buSzPct val="93333"/>
              <a:buFont typeface="Arial"/>
              <a:buChar char="•"/>
            </a:pPr>
            <a:r>
              <a:rPr lang="en" sz="1500">
                <a:solidFill>
                  <a:srgbClr val="202214"/>
                </a:solidFill>
                <a:latin typeface="Arial"/>
                <a:ea typeface="Arial"/>
                <a:cs typeface="Arial"/>
                <a:sym typeface="Arial"/>
              </a:rPr>
              <a:t>Anomaly Detection &amp;&amp; Tradeoff</a:t>
            </a:r>
            <a:endParaRPr sz="1500">
              <a:solidFill>
                <a:srgbClr val="202214"/>
              </a:solidFill>
              <a:latin typeface="Arial"/>
              <a:ea typeface="Arial"/>
              <a:cs typeface="Arial"/>
              <a:sym typeface="Arial"/>
            </a:endParaRPr>
          </a:p>
          <a:p>
            <a:pPr indent="-151765" lvl="1" marL="520700" rtl="0" algn="l">
              <a:lnSpc>
                <a:spcPct val="140000"/>
              </a:lnSpc>
              <a:spcBef>
                <a:spcPts val="0"/>
              </a:spcBef>
              <a:spcAft>
                <a:spcPts val="0"/>
              </a:spcAft>
              <a:buClr>
                <a:srgbClr val="202214"/>
              </a:buClr>
              <a:buSzPct val="100000"/>
              <a:buFont typeface="Arial"/>
              <a:buChar char="•"/>
            </a:pPr>
            <a:r>
              <a:rPr lang="en" sz="1100">
                <a:solidFill>
                  <a:srgbClr val="202214"/>
                </a:solidFill>
              </a:rPr>
              <a:t>The lower the threshold the more outliers it will remove however, we want to focus more on "extreme outliers" rather than just outliers. Why? because we might run the risk of information loss which will cause our models to have a lower accuracy. You can play with this threshold and see how it affects the accuracy of our classification models.</a:t>
            </a:r>
            <a:endParaRPr sz="1100">
              <a:solidFill>
                <a:srgbClr val="202214"/>
              </a:solidFill>
            </a:endParaRPr>
          </a:p>
          <a:p>
            <a:pPr indent="0" lvl="0" marL="0" rtl="0" algn="l">
              <a:lnSpc>
                <a:spcPct val="90000"/>
              </a:lnSpc>
              <a:spcBef>
                <a:spcPts val="600"/>
              </a:spcBef>
              <a:spcAft>
                <a:spcPts val="0"/>
              </a:spcAft>
              <a:buClr>
                <a:schemeClr val="dk2"/>
              </a:buClr>
              <a:buSzPct val="100000"/>
              <a:buFont typeface="Play"/>
              <a:buNone/>
            </a:pPr>
            <a:r>
              <a:t/>
            </a:r>
            <a:endParaRPr sz="2700">
              <a:solidFill>
                <a:schemeClr val="dk2"/>
              </a:solidFill>
            </a:endParaRPr>
          </a:p>
        </p:txBody>
      </p:sp>
      <p:pic>
        <p:nvPicPr>
          <p:cNvPr id="337" name="Google Shape;337;p27" title="Screenshot 2026-03-06 at 3.04.56 PM.png"/>
          <p:cNvPicPr preferRelativeResize="0"/>
          <p:nvPr/>
        </p:nvPicPr>
        <p:blipFill>
          <a:blip r:embed="rId3">
            <a:alphaModFix/>
          </a:blip>
          <a:stretch>
            <a:fillRect/>
          </a:stretch>
        </p:blipFill>
        <p:spPr>
          <a:xfrm>
            <a:off x="3931425" y="420575"/>
            <a:ext cx="5145348" cy="4379425"/>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2" name="Shape 342"/>
        <p:cNvGrpSpPr/>
        <p:nvPr/>
      </p:nvGrpSpPr>
      <p:grpSpPr>
        <a:xfrm>
          <a:off x="0" y="0"/>
          <a:ext cx="0" cy="0"/>
          <a:chOff x="0" y="0"/>
          <a:chExt cx="0" cy="0"/>
        </a:xfrm>
      </p:grpSpPr>
      <p:sp>
        <p:nvSpPr>
          <p:cNvPr id="343" name="Google Shape;343;p28"/>
          <p:cNvSpPr/>
          <p:nvPr/>
        </p:nvSpPr>
        <p:spPr>
          <a:xfrm>
            <a:off x="0" y="0"/>
            <a:ext cx="9144000"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44" name="Google Shape;344;p28"/>
          <p:cNvSpPr/>
          <p:nvPr/>
        </p:nvSpPr>
        <p:spPr>
          <a:xfrm>
            <a:off x="229" y="0"/>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45" name="Google Shape;345;p28"/>
          <p:cNvSpPr txBox="1"/>
          <p:nvPr>
            <p:ph type="title"/>
          </p:nvPr>
        </p:nvSpPr>
        <p:spPr>
          <a:xfrm>
            <a:off x="603504" y="602216"/>
            <a:ext cx="3574748" cy="1090538"/>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2700"/>
              <a:buFont typeface="Play"/>
              <a:buNone/>
            </a:pPr>
            <a:r>
              <a:rPr lang="en" sz="2700">
                <a:solidFill>
                  <a:schemeClr val="dk2"/>
                </a:solidFill>
              </a:rPr>
              <a:t>KNN – Key Takeaways</a:t>
            </a:r>
            <a:endParaRPr/>
          </a:p>
        </p:txBody>
      </p:sp>
      <p:sp>
        <p:nvSpPr>
          <p:cNvPr id="346" name="Google Shape;346;p28"/>
          <p:cNvSpPr txBox="1"/>
          <p:nvPr>
            <p:ph idx="1" type="body"/>
          </p:nvPr>
        </p:nvSpPr>
        <p:spPr>
          <a:xfrm>
            <a:off x="603503" y="1530512"/>
            <a:ext cx="3574462" cy="2515107"/>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Clr>
                <a:schemeClr val="dk2"/>
              </a:buClr>
              <a:buSzPts val="1100"/>
              <a:buNone/>
            </a:pPr>
            <a:r>
              <a:rPr lang="en" sz="1100">
                <a:solidFill>
                  <a:schemeClr val="dk2"/>
                </a:solidFill>
              </a:rPr>
              <a:t>The dataset is highly imbalanced, with fraud cases representing a very small percentage of total transactions. Therefore, evaluation metrics such as recall, precision, F1-score, and ROC-AUC are more meaningful than accuracy.</a:t>
            </a:r>
            <a:br>
              <a:rPr lang="en" sz="1100">
                <a:solidFill>
                  <a:schemeClr val="dk2"/>
                </a:solidFill>
              </a:rPr>
            </a:br>
            <a:br>
              <a:rPr lang="en" sz="1100">
                <a:solidFill>
                  <a:schemeClr val="dk2"/>
                </a:solidFill>
              </a:rPr>
            </a:br>
            <a:r>
              <a:rPr b="1" lang="en" sz="1100">
                <a:solidFill>
                  <a:schemeClr val="dk2"/>
                </a:solidFill>
              </a:rPr>
              <a:t>Evaluation Matrix Observation: </a:t>
            </a:r>
            <a:endParaRPr sz="1100">
              <a:solidFill>
                <a:schemeClr val="dk2"/>
              </a:solidFill>
            </a:endParaRPr>
          </a:p>
          <a:p>
            <a:pPr indent="-184150" lvl="0" marL="177800" rtl="0" algn="l">
              <a:lnSpc>
                <a:spcPct val="90000"/>
              </a:lnSpc>
              <a:spcBef>
                <a:spcPts val="800"/>
              </a:spcBef>
              <a:spcAft>
                <a:spcPts val="0"/>
              </a:spcAft>
              <a:buClr>
                <a:schemeClr val="dk2"/>
              </a:buClr>
              <a:buSzPts val="1100"/>
              <a:buChar char="•"/>
            </a:pPr>
            <a:r>
              <a:rPr lang="en" sz="1100">
                <a:solidFill>
                  <a:schemeClr val="dk2"/>
                </a:solidFill>
              </a:rPr>
              <a:t>Recall: 0.8469 - High: This means that the model correctly identifies 84.69% of the actual fraud cases. </a:t>
            </a:r>
            <a:endParaRPr/>
          </a:p>
          <a:p>
            <a:pPr indent="-184150" lvl="0" marL="177800" rtl="0" algn="l">
              <a:lnSpc>
                <a:spcPct val="90000"/>
              </a:lnSpc>
              <a:spcBef>
                <a:spcPts val="800"/>
              </a:spcBef>
              <a:spcAft>
                <a:spcPts val="0"/>
              </a:spcAft>
              <a:buClr>
                <a:schemeClr val="dk2"/>
              </a:buClr>
              <a:buSzPts val="1100"/>
              <a:buChar char="•"/>
            </a:pPr>
            <a:r>
              <a:rPr lang="en" sz="1100">
                <a:solidFill>
                  <a:schemeClr val="dk2"/>
                </a:solidFill>
              </a:rPr>
              <a:t>Precision: 0.5461 - Low: This means that only 54.61% of the predicted fraud cases are actually fraud. This indicates a high false positive rate, which is common in imbalanced datasets. </a:t>
            </a:r>
            <a:endParaRPr/>
          </a:p>
          <a:p>
            <a:pPr indent="-184150" lvl="0" marL="177800" rtl="0" algn="l">
              <a:lnSpc>
                <a:spcPct val="90000"/>
              </a:lnSpc>
              <a:spcBef>
                <a:spcPts val="800"/>
              </a:spcBef>
              <a:spcAft>
                <a:spcPts val="0"/>
              </a:spcAft>
              <a:buClr>
                <a:schemeClr val="dk2"/>
              </a:buClr>
              <a:buSzPts val="1100"/>
              <a:buChar char="•"/>
            </a:pPr>
            <a:r>
              <a:rPr lang="en" sz="1100">
                <a:solidFill>
                  <a:schemeClr val="dk2"/>
                </a:solidFill>
              </a:rPr>
              <a:t>F1-Score: 0.6678 - This is the harmonic mean of precision and recall, indicating a balance between the two. </a:t>
            </a:r>
            <a:endParaRPr/>
          </a:p>
          <a:p>
            <a:pPr indent="-184150" lvl="0" marL="177800" rtl="0" algn="l">
              <a:lnSpc>
                <a:spcPct val="90000"/>
              </a:lnSpc>
              <a:spcBef>
                <a:spcPts val="800"/>
              </a:spcBef>
              <a:spcAft>
                <a:spcPts val="0"/>
              </a:spcAft>
              <a:buClr>
                <a:schemeClr val="dk2"/>
              </a:buClr>
              <a:buSzPts val="1100"/>
              <a:buChar char="•"/>
            </a:pPr>
            <a:r>
              <a:rPr lang="en" sz="1100">
                <a:solidFill>
                  <a:schemeClr val="dk2"/>
                </a:solidFill>
              </a:rPr>
              <a:t>ROC AUC: 0.9205 - This indicates that the model has a good ability to distinguish between the classes, with a score of 0.9205 suggesting strong performance.</a:t>
            </a:r>
            <a:endParaRPr/>
          </a:p>
        </p:txBody>
      </p:sp>
      <p:grpSp>
        <p:nvGrpSpPr>
          <p:cNvPr id="347" name="Google Shape;347;p28"/>
          <p:cNvGrpSpPr/>
          <p:nvPr/>
        </p:nvGrpSpPr>
        <p:grpSpPr>
          <a:xfrm>
            <a:off x="4363680" y="-12536"/>
            <a:ext cx="4780321" cy="5156036"/>
            <a:chOff x="5818240" y="-1"/>
            <a:chExt cx="6373761" cy="6874714"/>
          </a:xfrm>
        </p:grpSpPr>
        <p:sp>
          <p:nvSpPr>
            <p:cNvPr id="348" name="Google Shape;348;p28"/>
            <p:cNvSpPr/>
            <p:nvPr/>
          </p:nvSpPr>
          <p:spPr>
            <a:xfrm>
              <a:off x="5818240" y="-1"/>
              <a:ext cx="6373761" cy="6874714"/>
            </a:xfrm>
            <a:custGeom>
              <a:rect b="b" l="l" r="r" t="t"/>
              <a:pathLst>
                <a:path extrusionOk="0" h="6874714" w="6373761">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49" name="Google Shape;349;p28"/>
            <p:cNvSpPr/>
            <p:nvPr/>
          </p:nvSpPr>
          <p:spPr>
            <a:xfrm>
              <a:off x="5865276" y="313387"/>
              <a:ext cx="6326724" cy="6561326"/>
            </a:xfrm>
            <a:custGeom>
              <a:rect b="b" l="l" r="r" t="t"/>
              <a:pathLst>
                <a:path extrusionOk="0" h="6561326" w="6326724">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50" name="Google Shape;350;p28"/>
            <p:cNvSpPr/>
            <p:nvPr/>
          </p:nvSpPr>
          <p:spPr>
            <a:xfrm>
              <a:off x="5870322" y="353119"/>
              <a:ext cx="6321679" cy="6521594"/>
            </a:xfrm>
            <a:custGeom>
              <a:rect b="b" l="l" r="r" t="t"/>
              <a:pathLst>
                <a:path extrusionOk="0" h="6521594" w="6321679">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51" name="Google Shape;351;p28"/>
            <p:cNvSpPr/>
            <p:nvPr/>
          </p:nvSpPr>
          <p:spPr>
            <a:xfrm>
              <a:off x="5870322" y="353119"/>
              <a:ext cx="6321679" cy="6521594"/>
            </a:xfrm>
            <a:custGeom>
              <a:rect b="b" l="l" r="r" t="t"/>
              <a:pathLst>
                <a:path extrusionOk="0" h="6521594" w="6321679">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pic>
        <p:nvPicPr>
          <p:cNvPr descr="Error" id="352" name="Google Shape;352;p28"/>
          <p:cNvPicPr preferRelativeResize="0"/>
          <p:nvPr/>
        </p:nvPicPr>
        <p:blipFill rotWithShape="1">
          <a:blip r:embed="rId3">
            <a:alphaModFix/>
          </a:blip>
          <a:srcRect b="0" l="0" r="0" t="0"/>
          <a:stretch/>
        </p:blipFill>
        <p:spPr>
          <a:xfrm>
            <a:off x="5781294" y="1364742"/>
            <a:ext cx="3106674" cy="31066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56" name="Shape 356"/>
        <p:cNvGrpSpPr/>
        <p:nvPr/>
      </p:nvGrpSpPr>
      <p:grpSpPr>
        <a:xfrm>
          <a:off x="0" y="0"/>
          <a:ext cx="0" cy="0"/>
          <a:chOff x="0" y="0"/>
          <a:chExt cx="0" cy="0"/>
        </a:xfrm>
      </p:grpSpPr>
      <p:sp>
        <p:nvSpPr>
          <p:cNvPr id="357" name="Google Shape;357;p29"/>
          <p:cNvSpPr/>
          <p:nvPr/>
        </p:nvSpPr>
        <p:spPr>
          <a:xfrm>
            <a:off x="0" y="0"/>
            <a:ext cx="9144000"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58" name="Google Shape;358;p29"/>
          <p:cNvSpPr/>
          <p:nvPr/>
        </p:nvSpPr>
        <p:spPr>
          <a:xfrm>
            <a:off x="229" y="0"/>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59" name="Google Shape;359;p29"/>
          <p:cNvSpPr txBox="1"/>
          <p:nvPr>
            <p:ph type="title"/>
          </p:nvPr>
        </p:nvSpPr>
        <p:spPr>
          <a:xfrm>
            <a:off x="603504" y="602216"/>
            <a:ext cx="3574748" cy="1090538"/>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2700"/>
              <a:buFont typeface="Play"/>
              <a:buNone/>
            </a:pPr>
            <a:r>
              <a:rPr lang="en" sz="2700">
                <a:solidFill>
                  <a:schemeClr val="dk2"/>
                </a:solidFill>
              </a:rPr>
              <a:t>Logistic Regression – Key Takeaways</a:t>
            </a:r>
            <a:endParaRPr/>
          </a:p>
        </p:txBody>
      </p:sp>
      <p:sp>
        <p:nvSpPr>
          <p:cNvPr id="360" name="Google Shape;360;p29"/>
          <p:cNvSpPr txBox="1"/>
          <p:nvPr>
            <p:ph idx="1" type="body"/>
          </p:nvPr>
        </p:nvSpPr>
        <p:spPr>
          <a:xfrm>
            <a:off x="603504" y="1816262"/>
            <a:ext cx="3574462" cy="2515107"/>
          </a:xfrm>
          <a:prstGeom prst="rect">
            <a:avLst/>
          </a:prstGeom>
          <a:noFill/>
          <a:ln>
            <a:noFill/>
          </a:ln>
        </p:spPr>
        <p:txBody>
          <a:bodyPr anchorCtr="0" anchor="t" bIns="34275" lIns="68575" spcFirstLastPara="1" rIns="68575" wrap="square" tIns="34275">
            <a:normAutofit/>
          </a:bodyPr>
          <a:lstStyle/>
          <a:p>
            <a:pPr indent="-177800" lvl="0" marL="177800" rtl="0" algn="l">
              <a:lnSpc>
                <a:spcPct val="90000"/>
              </a:lnSpc>
              <a:spcBef>
                <a:spcPts val="0"/>
              </a:spcBef>
              <a:spcAft>
                <a:spcPts val="0"/>
              </a:spcAft>
              <a:buClr>
                <a:schemeClr val="dk2"/>
              </a:buClr>
              <a:buSzPts val="1400"/>
              <a:buChar char="•"/>
            </a:pPr>
            <a:r>
              <a:rPr lang="en" sz="1400">
                <a:solidFill>
                  <a:schemeClr val="dk2"/>
                </a:solidFill>
              </a:rPr>
              <a:t>The Feature importance from Logistic Regression aligns with Box Whisker Plots in Exploratory Analysis.</a:t>
            </a:r>
            <a:endParaRPr/>
          </a:p>
          <a:p>
            <a:pPr indent="-177800" lvl="0" marL="177800" rtl="0" algn="l">
              <a:lnSpc>
                <a:spcPct val="90000"/>
              </a:lnSpc>
              <a:spcBef>
                <a:spcPts val="800"/>
              </a:spcBef>
              <a:spcAft>
                <a:spcPts val="0"/>
              </a:spcAft>
              <a:buClr>
                <a:schemeClr val="dk2"/>
              </a:buClr>
              <a:buSzPts val="1400"/>
              <a:buChar char="•"/>
            </a:pPr>
            <a:r>
              <a:rPr lang="en" sz="1400">
                <a:solidFill>
                  <a:schemeClr val="dk2"/>
                </a:solidFill>
              </a:rPr>
              <a:t>We have used 'balanced' class weight in Logistic Regression Model &amp; Stratified sampling to address class imbalance.</a:t>
            </a:r>
            <a:endParaRPr/>
          </a:p>
          <a:p>
            <a:pPr indent="-177800" lvl="0" marL="177800" rtl="0" algn="l">
              <a:lnSpc>
                <a:spcPct val="90000"/>
              </a:lnSpc>
              <a:spcBef>
                <a:spcPts val="800"/>
              </a:spcBef>
              <a:spcAft>
                <a:spcPts val="0"/>
              </a:spcAft>
              <a:buClr>
                <a:schemeClr val="dk2"/>
              </a:buClr>
              <a:buSzPts val="1400"/>
              <a:buChar char="•"/>
            </a:pPr>
            <a:r>
              <a:rPr lang="en" sz="1400">
                <a:solidFill>
                  <a:schemeClr val="dk2"/>
                </a:solidFill>
              </a:rPr>
              <a:t>The Model's sensitivity/ Recall in fraud detection is about 88% , meaning the model still can produce False negatives that can be improved by either increasing the Fraudulent training data set and using methods like cross validation.</a:t>
            </a:r>
            <a:endParaRPr/>
          </a:p>
        </p:txBody>
      </p:sp>
      <p:grpSp>
        <p:nvGrpSpPr>
          <p:cNvPr id="361" name="Google Shape;361;p29"/>
          <p:cNvGrpSpPr/>
          <p:nvPr/>
        </p:nvGrpSpPr>
        <p:grpSpPr>
          <a:xfrm>
            <a:off x="4363680" y="-12536"/>
            <a:ext cx="4780321" cy="5156036"/>
            <a:chOff x="5818240" y="-1"/>
            <a:chExt cx="6373761" cy="6874714"/>
          </a:xfrm>
        </p:grpSpPr>
        <p:sp>
          <p:nvSpPr>
            <p:cNvPr id="362" name="Google Shape;362;p29"/>
            <p:cNvSpPr/>
            <p:nvPr/>
          </p:nvSpPr>
          <p:spPr>
            <a:xfrm>
              <a:off x="5818240" y="-1"/>
              <a:ext cx="6373761" cy="6874714"/>
            </a:xfrm>
            <a:custGeom>
              <a:rect b="b" l="l" r="r" t="t"/>
              <a:pathLst>
                <a:path extrusionOk="0" h="6874714" w="6373761">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63" name="Google Shape;363;p29"/>
            <p:cNvSpPr/>
            <p:nvPr/>
          </p:nvSpPr>
          <p:spPr>
            <a:xfrm>
              <a:off x="5865276" y="313387"/>
              <a:ext cx="6326724" cy="6561326"/>
            </a:xfrm>
            <a:custGeom>
              <a:rect b="b" l="l" r="r" t="t"/>
              <a:pathLst>
                <a:path extrusionOk="0" h="6561326" w="6326724">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64" name="Google Shape;364;p29"/>
            <p:cNvSpPr/>
            <p:nvPr/>
          </p:nvSpPr>
          <p:spPr>
            <a:xfrm>
              <a:off x="5870322" y="353119"/>
              <a:ext cx="6321679" cy="6521594"/>
            </a:xfrm>
            <a:custGeom>
              <a:rect b="b" l="l" r="r" t="t"/>
              <a:pathLst>
                <a:path extrusionOk="0" h="6521594" w="6321679">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65" name="Google Shape;365;p29"/>
            <p:cNvSpPr/>
            <p:nvPr/>
          </p:nvSpPr>
          <p:spPr>
            <a:xfrm>
              <a:off x="5870322" y="353119"/>
              <a:ext cx="6321679" cy="6521594"/>
            </a:xfrm>
            <a:custGeom>
              <a:rect b="b" l="l" r="r" t="t"/>
              <a:pathLst>
                <a:path extrusionOk="0" h="6521594" w="6321679">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pic>
        <p:nvPicPr>
          <p:cNvPr id="366" name="Google Shape;366;p29"/>
          <p:cNvPicPr preferRelativeResize="0"/>
          <p:nvPr/>
        </p:nvPicPr>
        <p:blipFill rotWithShape="1">
          <a:blip r:embed="rId3">
            <a:alphaModFix/>
          </a:blip>
          <a:srcRect b="0" l="0" r="0" t="0"/>
          <a:stretch/>
        </p:blipFill>
        <p:spPr>
          <a:xfrm>
            <a:off x="5781294" y="1582210"/>
            <a:ext cx="3106674" cy="267173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0" name="Shape 370"/>
        <p:cNvGrpSpPr/>
        <p:nvPr/>
      </p:nvGrpSpPr>
      <p:grpSpPr>
        <a:xfrm>
          <a:off x="0" y="0"/>
          <a:ext cx="0" cy="0"/>
          <a:chOff x="0" y="0"/>
          <a:chExt cx="0" cy="0"/>
        </a:xfrm>
      </p:grpSpPr>
      <p:sp>
        <p:nvSpPr>
          <p:cNvPr id="371" name="Google Shape;371;p30"/>
          <p:cNvSpPr/>
          <p:nvPr/>
        </p:nvSpPr>
        <p:spPr>
          <a:xfrm>
            <a:off x="0" y="1"/>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72" name="Google Shape;372;p30"/>
          <p:cNvSpPr/>
          <p:nvPr/>
        </p:nvSpPr>
        <p:spPr>
          <a:xfrm>
            <a:off x="229" y="0"/>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600">
              <a:solidFill>
                <a:schemeClr val="lt1"/>
              </a:solidFill>
              <a:latin typeface="Arial"/>
              <a:ea typeface="Arial"/>
              <a:cs typeface="Arial"/>
              <a:sym typeface="Arial"/>
            </a:endParaRPr>
          </a:p>
        </p:txBody>
      </p:sp>
      <p:grpSp>
        <p:nvGrpSpPr>
          <p:cNvPr id="373" name="Google Shape;373;p30"/>
          <p:cNvGrpSpPr/>
          <p:nvPr/>
        </p:nvGrpSpPr>
        <p:grpSpPr>
          <a:xfrm>
            <a:off x="-16397" y="381629"/>
            <a:ext cx="3913469" cy="4679746"/>
            <a:chOff x="-19221" y="251144"/>
            <a:chExt cx="5217958" cy="6239661"/>
          </a:xfrm>
        </p:grpSpPr>
        <p:sp>
          <p:nvSpPr>
            <p:cNvPr id="374" name="Google Shape;374;p30"/>
            <p:cNvSpPr/>
            <p:nvPr/>
          </p:nvSpPr>
          <p:spPr>
            <a:xfrm>
              <a:off x="-19221" y="251144"/>
              <a:ext cx="5187198" cy="6239661"/>
            </a:xfrm>
            <a:custGeom>
              <a:rect b="b" l="l" r="r" t="t"/>
              <a:pathLst>
                <a:path extrusionOk="0" h="6239661" w="5187198">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75" name="Google Shape;375;p30"/>
            <p:cNvSpPr/>
            <p:nvPr/>
          </p:nvSpPr>
          <p:spPr>
            <a:xfrm>
              <a:off x="-19220" y="297400"/>
              <a:ext cx="5215811" cy="6107388"/>
            </a:xfrm>
            <a:custGeom>
              <a:rect b="b" l="l" r="r" t="t"/>
              <a:pathLst>
                <a:path extrusionOk="0" h="6107388" w="5215811">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76" name="Google Shape;376;p30"/>
            <p:cNvSpPr/>
            <p:nvPr/>
          </p:nvSpPr>
          <p:spPr>
            <a:xfrm>
              <a:off x="-19221" y="319367"/>
              <a:ext cx="5217956" cy="6100079"/>
            </a:xfrm>
            <a:custGeom>
              <a:rect b="b" l="l" r="r" t="t"/>
              <a:pathLst>
                <a:path extrusionOk="0" h="6100079" w="5217956">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77" name="Google Shape;377;p30"/>
            <p:cNvSpPr/>
            <p:nvPr/>
          </p:nvSpPr>
          <p:spPr>
            <a:xfrm>
              <a:off x="-19220" y="319367"/>
              <a:ext cx="5217957" cy="6100079"/>
            </a:xfrm>
            <a:custGeom>
              <a:rect b="b" l="l" r="r" t="t"/>
              <a:pathLst>
                <a:path extrusionOk="0" h="6100079" w="5217957">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sp>
        <p:nvSpPr>
          <p:cNvPr id="378" name="Google Shape;378;p30"/>
          <p:cNvSpPr txBox="1"/>
          <p:nvPr>
            <p:ph type="title"/>
          </p:nvPr>
        </p:nvSpPr>
        <p:spPr>
          <a:xfrm>
            <a:off x="480060" y="932260"/>
            <a:ext cx="2891790" cy="327898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2700"/>
              <a:buFont typeface="Play"/>
              <a:buNone/>
            </a:pPr>
            <a:r>
              <a:rPr lang="en" sz="2700">
                <a:solidFill>
                  <a:schemeClr val="dk2"/>
                </a:solidFill>
              </a:rPr>
              <a:t>Random Forest - Overview</a:t>
            </a:r>
            <a:endParaRPr/>
          </a:p>
        </p:txBody>
      </p:sp>
      <p:sp>
        <p:nvSpPr>
          <p:cNvPr id="379" name="Google Shape;379;p30"/>
          <p:cNvSpPr txBox="1"/>
          <p:nvPr>
            <p:ph idx="1" type="body"/>
          </p:nvPr>
        </p:nvSpPr>
        <p:spPr>
          <a:xfrm>
            <a:off x="4629150" y="603504"/>
            <a:ext cx="3915918" cy="3922776"/>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1300"/>
              <a:buNone/>
            </a:pPr>
            <a:r>
              <a:rPr b="1" lang="en" sz="1300">
                <a:solidFill>
                  <a:schemeClr val="dk2"/>
                </a:solidFill>
              </a:rPr>
              <a:t>Model Overview</a:t>
            </a:r>
            <a:br>
              <a:rPr lang="en" sz="1300">
                <a:solidFill>
                  <a:schemeClr val="dk2"/>
                </a:solidFill>
              </a:rPr>
            </a:br>
            <a:endParaRPr sz="1300">
              <a:solidFill>
                <a:schemeClr val="dk2"/>
              </a:solidFill>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Implemented a </a:t>
            </a:r>
            <a:r>
              <a:rPr b="1" lang="en" sz="1300">
                <a:solidFill>
                  <a:schemeClr val="dk2"/>
                </a:solidFill>
              </a:rPr>
              <a:t>Random Forest Classifier</a:t>
            </a:r>
            <a:r>
              <a:rPr lang="en" sz="1300">
                <a:solidFill>
                  <a:schemeClr val="dk2"/>
                </a:solidFill>
              </a:rPr>
              <a:t> to detect fraudulent credit card transactions.</a:t>
            </a:r>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Random Forest combines </a:t>
            </a:r>
            <a:r>
              <a:rPr b="1" lang="en" sz="1300">
                <a:solidFill>
                  <a:schemeClr val="dk2"/>
                </a:solidFill>
              </a:rPr>
              <a:t>multiple decision trees</a:t>
            </a:r>
            <a:r>
              <a:rPr lang="en" sz="1300">
                <a:solidFill>
                  <a:schemeClr val="dk2"/>
                </a:solidFill>
              </a:rPr>
              <a:t> to improve prediction accuracy.</a:t>
            </a:r>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Each tree learns different patterns from the data and the final prediction is based on majority voting.</a:t>
            </a:r>
            <a:endParaRPr/>
          </a:p>
          <a:p>
            <a:pPr indent="0" lvl="0" marL="0" rtl="0" algn="l">
              <a:lnSpc>
                <a:spcPct val="90000"/>
              </a:lnSpc>
              <a:spcBef>
                <a:spcPts val="800"/>
              </a:spcBef>
              <a:spcAft>
                <a:spcPts val="0"/>
              </a:spcAft>
              <a:buClr>
                <a:schemeClr val="dk1"/>
              </a:buClr>
              <a:buSzPts val="1300"/>
              <a:buNone/>
            </a:pPr>
            <a:r>
              <a:t/>
            </a:r>
            <a:endParaRPr sz="1300">
              <a:solidFill>
                <a:schemeClr val="dk2"/>
              </a:solidFill>
            </a:endParaRPr>
          </a:p>
          <a:p>
            <a:pPr indent="0" lvl="0" marL="0" rtl="0" algn="l">
              <a:lnSpc>
                <a:spcPct val="90000"/>
              </a:lnSpc>
              <a:spcBef>
                <a:spcPts val="800"/>
              </a:spcBef>
              <a:spcAft>
                <a:spcPts val="0"/>
              </a:spcAft>
              <a:buClr>
                <a:schemeClr val="dk2"/>
              </a:buClr>
              <a:buSzPts val="1300"/>
              <a:buNone/>
            </a:pPr>
            <a:r>
              <a:rPr b="1" lang="en" sz="1300">
                <a:solidFill>
                  <a:schemeClr val="dk2"/>
                </a:solidFill>
              </a:rPr>
              <a:t>Why Random Forest</a:t>
            </a:r>
            <a:br>
              <a:rPr lang="en" sz="1300">
                <a:solidFill>
                  <a:schemeClr val="dk2"/>
                </a:solidFill>
              </a:rPr>
            </a:br>
            <a:endParaRPr sz="1300">
              <a:solidFill>
                <a:schemeClr val="dk2"/>
              </a:solidFill>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Handles </a:t>
            </a:r>
            <a:r>
              <a:rPr b="1" lang="en" sz="1300">
                <a:solidFill>
                  <a:schemeClr val="dk2"/>
                </a:solidFill>
              </a:rPr>
              <a:t>large datasets and complex patterns</a:t>
            </a:r>
            <a:r>
              <a:rPr lang="en" sz="1300">
                <a:solidFill>
                  <a:schemeClr val="dk2"/>
                </a:solidFill>
              </a:rPr>
              <a:t> effectively.</a:t>
            </a:r>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Reduces </a:t>
            </a:r>
            <a:r>
              <a:rPr b="1" lang="en" sz="1300">
                <a:solidFill>
                  <a:schemeClr val="dk2"/>
                </a:solidFill>
              </a:rPr>
              <a:t>overfitting compared to a single decision tree</a:t>
            </a:r>
            <a:r>
              <a:rPr lang="en" sz="1300">
                <a:solidFill>
                  <a:schemeClr val="dk2"/>
                </a:solidFill>
              </a:rPr>
              <a:t>.</a:t>
            </a:r>
            <a:endParaRPr/>
          </a:p>
          <a:p>
            <a:pPr indent="-184150" lvl="0" marL="177800" rtl="0" algn="l">
              <a:lnSpc>
                <a:spcPct val="90000"/>
              </a:lnSpc>
              <a:spcBef>
                <a:spcPts val="800"/>
              </a:spcBef>
              <a:spcAft>
                <a:spcPts val="0"/>
              </a:spcAft>
              <a:buClr>
                <a:schemeClr val="dk2"/>
              </a:buClr>
              <a:buSzPts val="1300"/>
              <a:buChar char="•"/>
            </a:pPr>
            <a:r>
              <a:rPr lang="en" sz="1300">
                <a:solidFill>
                  <a:schemeClr val="dk2"/>
                </a:solidFill>
              </a:rPr>
              <a:t>Works well with </a:t>
            </a:r>
            <a:r>
              <a:rPr b="1" lang="en" sz="1300">
                <a:solidFill>
                  <a:schemeClr val="dk2"/>
                </a:solidFill>
              </a:rPr>
              <a:t>high-dimensional data</a:t>
            </a:r>
            <a:r>
              <a:rPr lang="en" sz="1300">
                <a:solidFill>
                  <a:schemeClr val="dk2"/>
                </a:solidFill>
              </a:rPr>
              <a: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3" name="Shape 383"/>
        <p:cNvGrpSpPr/>
        <p:nvPr/>
      </p:nvGrpSpPr>
      <p:grpSpPr>
        <a:xfrm>
          <a:off x="0" y="0"/>
          <a:ext cx="0" cy="0"/>
          <a:chOff x="0" y="0"/>
          <a:chExt cx="0" cy="0"/>
        </a:xfrm>
      </p:grpSpPr>
      <p:sp>
        <p:nvSpPr>
          <p:cNvPr id="384" name="Google Shape;384;p31"/>
          <p:cNvSpPr/>
          <p:nvPr/>
        </p:nvSpPr>
        <p:spPr>
          <a:xfrm>
            <a:off x="0" y="1"/>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85" name="Google Shape;385;p31"/>
          <p:cNvSpPr/>
          <p:nvPr/>
        </p:nvSpPr>
        <p:spPr>
          <a:xfrm>
            <a:off x="229" y="0"/>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600">
              <a:solidFill>
                <a:schemeClr val="lt1"/>
              </a:solidFill>
              <a:latin typeface="Arial"/>
              <a:ea typeface="Arial"/>
              <a:cs typeface="Arial"/>
              <a:sym typeface="Arial"/>
            </a:endParaRPr>
          </a:p>
        </p:txBody>
      </p:sp>
      <p:grpSp>
        <p:nvGrpSpPr>
          <p:cNvPr id="386" name="Google Shape;386;p31"/>
          <p:cNvGrpSpPr/>
          <p:nvPr/>
        </p:nvGrpSpPr>
        <p:grpSpPr>
          <a:xfrm>
            <a:off x="-16397" y="381629"/>
            <a:ext cx="3913469" cy="4679746"/>
            <a:chOff x="-19221" y="251144"/>
            <a:chExt cx="5217958" cy="6239661"/>
          </a:xfrm>
        </p:grpSpPr>
        <p:sp>
          <p:nvSpPr>
            <p:cNvPr id="387" name="Google Shape;387;p31"/>
            <p:cNvSpPr/>
            <p:nvPr/>
          </p:nvSpPr>
          <p:spPr>
            <a:xfrm>
              <a:off x="-19221" y="251144"/>
              <a:ext cx="5187198" cy="6239661"/>
            </a:xfrm>
            <a:custGeom>
              <a:rect b="b" l="l" r="r" t="t"/>
              <a:pathLst>
                <a:path extrusionOk="0" h="6239661" w="5187198">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88" name="Google Shape;388;p31"/>
            <p:cNvSpPr/>
            <p:nvPr/>
          </p:nvSpPr>
          <p:spPr>
            <a:xfrm>
              <a:off x="-19220" y="297400"/>
              <a:ext cx="5215811" cy="6107388"/>
            </a:xfrm>
            <a:custGeom>
              <a:rect b="b" l="l" r="r" t="t"/>
              <a:pathLst>
                <a:path extrusionOk="0" h="6107388" w="5215811">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89" name="Google Shape;389;p31"/>
            <p:cNvSpPr/>
            <p:nvPr/>
          </p:nvSpPr>
          <p:spPr>
            <a:xfrm>
              <a:off x="-19221" y="319367"/>
              <a:ext cx="5217956" cy="6100079"/>
            </a:xfrm>
            <a:custGeom>
              <a:rect b="b" l="l" r="r" t="t"/>
              <a:pathLst>
                <a:path extrusionOk="0" h="6100079" w="5217956">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90" name="Google Shape;390;p31"/>
            <p:cNvSpPr/>
            <p:nvPr/>
          </p:nvSpPr>
          <p:spPr>
            <a:xfrm>
              <a:off x="-19220" y="319367"/>
              <a:ext cx="5217957" cy="6100079"/>
            </a:xfrm>
            <a:custGeom>
              <a:rect b="b" l="l" r="r" t="t"/>
              <a:pathLst>
                <a:path extrusionOk="0" h="6100079" w="5217957">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sp>
        <p:nvSpPr>
          <p:cNvPr id="391" name="Google Shape;391;p31"/>
          <p:cNvSpPr txBox="1"/>
          <p:nvPr>
            <p:ph type="title"/>
          </p:nvPr>
        </p:nvSpPr>
        <p:spPr>
          <a:xfrm>
            <a:off x="480060" y="932260"/>
            <a:ext cx="2891790" cy="327898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2700"/>
              <a:buFont typeface="Play"/>
              <a:buNone/>
            </a:pPr>
            <a:r>
              <a:rPr lang="en" sz="2700">
                <a:solidFill>
                  <a:schemeClr val="dk2"/>
                </a:solidFill>
              </a:rPr>
              <a:t>Random Forest – Evaluation Metrics</a:t>
            </a:r>
            <a:endParaRPr/>
          </a:p>
        </p:txBody>
      </p:sp>
      <p:pic>
        <p:nvPicPr>
          <p:cNvPr id="392" name="Google Shape;392;p31"/>
          <p:cNvPicPr preferRelativeResize="0"/>
          <p:nvPr>
            <p:ph idx="1" type="body"/>
          </p:nvPr>
        </p:nvPicPr>
        <p:blipFill rotWithShape="1">
          <a:blip r:embed="rId3">
            <a:alphaModFix/>
          </a:blip>
          <a:srcRect b="0" l="0" r="0" t="0"/>
          <a:stretch/>
        </p:blipFill>
        <p:spPr>
          <a:xfrm>
            <a:off x="4629150" y="607219"/>
            <a:ext cx="3915966" cy="391596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6" name="Shape 396"/>
        <p:cNvGrpSpPr/>
        <p:nvPr/>
      </p:nvGrpSpPr>
      <p:grpSpPr>
        <a:xfrm>
          <a:off x="0" y="0"/>
          <a:ext cx="0" cy="0"/>
          <a:chOff x="0" y="0"/>
          <a:chExt cx="0" cy="0"/>
        </a:xfrm>
      </p:grpSpPr>
      <p:sp>
        <p:nvSpPr>
          <p:cNvPr id="397" name="Google Shape;397;p32"/>
          <p:cNvSpPr/>
          <p:nvPr/>
        </p:nvSpPr>
        <p:spPr>
          <a:xfrm>
            <a:off x="0" y="1"/>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398" name="Google Shape;398;p32"/>
          <p:cNvSpPr/>
          <p:nvPr/>
        </p:nvSpPr>
        <p:spPr>
          <a:xfrm>
            <a:off x="229" y="0"/>
            <a:ext cx="9143771" cy="5143500"/>
          </a:xfrm>
          <a:prstGeom prst="rect">
            <a:avLst/>
          </a:prstGeom>
          <a:solidFill>
            <a:schemeClr val="lt1"/>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600">
              <a:solidFill>
                <a:schemeClr val="lt1"/>
              </a:solidFill>
              <a:latin typeface="Arial"/>
              <a:ea typeface="Arial"/>
              <a:cs typeface="Arial"/>
              <a:sym typeface="Arial"/>
            </a:endParaRPr>
          </a:p>
        </p:txBody>
      </p:sp>
      <p:grpSp>
        <p:nvGrpSpPr>
          <p:cNvPr id="399" name="Google Shape;399;p32"/>
          <p:cNvGrpSpPr/>
          <p:nvPr/>
        </p:nvGrpSpPr>
        <p:grpSpPr>
          <a:xfrm>
            <a:off x="-16397" y="381629"/>
            <a:ext cx="3913469" cy="4679746"/>
            <a:chOff x="-19221" y="251144"/>
            <a:chExt cx="5217958" cy="6239661"/>
          </a:xfrm>
        </p:grpSpPr>
        <p:sp>
          <p:nvSpPr>
            <p:cNvPr id="400" name="Google Shape;400;p32"/>
            <p:cNvSpPr/>
            <p:nvPr/>
          </p:nvSpPr>
          <p:spPr>
            <a:xfrm>
              <a:off x="-19221" y="251144"/>
              <a:ext cx="5187198" cy="6239661"/>
            </a:xfrm>
            <a:custGeom>
              <a:rect b="b" l="l" r="r" t="t"/>
              <a:pathLst>
                <a:path extrusionOk="0" h="6239661" w="5187198">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401" name="Google Shape;401;p32"/>
            <p:cNvSpPr/>
            <p:nvPr/>
          </p:nvSpPr>
          <p:spPr>
            <a:xfrm>
              <a:off x="-19220" y="297400"/>
              <a:ext cx="5215811" cy="6107388"/>
            </a:xfrm>
            <a:custGeom>
              <a:rect b="b" l="l" r="r" t="t"/>
              <a:pathLst>
                <a:path extrusionOk="0" h="6107388" w="5215811">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402" name="Google Shape;402;p32"/>
            <p:cNvSpPr/>
            <p:nvPr/>
          </p:nvSpPr>
          <p:spPr>
            <a:xfrm>
              <a:off x="-19221" y="319367"/>
              <a:ext cx="5217956" cy="6100079"/>
            </a:xfrm>
            <a:custGeom>
              <a:rect b="b" l="l" r="r" t="t"/>
              <a:pathLst>
                <a:path extrusionOk="0" h="6100079" w="5217956">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sp>
          <p:nvSpPr>
            <p:cNvPr id="403" name="Google Shape;403;p32"/>
            <p:cNvSpPr/>
            <p:nvPr/>
          </p:nvSpPr>
          <p:spPr>
            <a:xfrm>
              <a:off x="-19220" y="319367"/>
              <a:ext cx="5217957" cy="6100079"/>
            </a:xfrm>
            <a:custGeom>
              <a:rect b="b" l="l" r="r" t="t"/>
              <a:pathLst>
                <a:path extrusionOk="0" h="6100079" w="5217957">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0">
                  <a:srgbClr val="FFFFFF">
                    <a:alpha val="10196"/>
                  </a:srgbClr>
                </a:gs>
                <a:gs pos="2000">
                  <a:srgbClr val="FFFFFF">
                    <a:alpha val="10196"/>
                  </a:srgbClr>
                </a:gs>
                <a:gs pos="16000">
                  <a:srgbClr val="4EA72E">
                    <a:alpha val="10196"/>
                  </a:srgbClr>
                </a:gs>
                <a:gs pos="85000">
                  <a:srgbClr val="156082">
                    <a:alpha val="10196"/>
                  </a:srgbClr>
                </a:gs>
                <a:gs pos="100000">
                  <a:srgbClr val="FFFFFF">
                    <a:alpha val="10196"/>
                  </a:srgbClr>
                </a:gs>
              </a:gsLst>
              <a:lin ang="12000000" scaled="0"/>
            </a:gra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Arial"/>
                <a:ea typeface="Arial"/>
                <a:cs typeface="Arial"/>
                <a:sym typeface="Arial"/>
              </a:endParaRPr>
            </a:p>
          </p:txBody>
        </p:sp>
      </p:grpSp>
      <p:sp>
        <p:nvSpPr>
          <p:cNvPr id="404" name="Google Shape;404;p32"/>
          <p:cNvSpPr txBox="1"/>
          <p:nvPr>
            <p:ph type="title"/>
          </p:nvPr>
        </p:nvSpPr>
        <p:spPr>
          <a:xfrm>
            <a:off x="480060" y="932260"/>
            <a:ext cx="2891790" cy="327898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2"/>
              </a:buClr>
              <a:buSzPts val="2700"/>
              <a:buFont typeface="Play"/>
              <a:buNone/>
            </a:pPr>
            <a:r>
              <a:rPr lang="en" sz="2700">
                <a:solidFill>
                  <a:schemeClr val="dk2"/>
                </a:solidFill>
              </a:rPr>
              <a:t>Key Takeaways</a:t>
            </a:r>
            <a:endParaRPr/>
          </a:p>
        </p:txBody>
      </p:sp>
      <p:sp>
        <p:nvSpPr>
          <p:cNvPr id="405" name="Google Shape;405;p32"/>
          <p:cNvSpPr txBox="1"/>
          <p:nvPr>
            <p:ph idx="1" type="body"/>
          </p:nvPr>
        </p:nvSpPr>
        <p:spPr>
          <a:xfrm>
            <a:off x="4629150" y="603504"/>
            <a:ext cx="3915918" cy="3922776"/>
          </a:xfrm>
          <a:prstGeom prst="rect">
            <a:avLst/>
          </a:prstGeom>
          <a:noFill/>
          <a:ln>
            <a:noFill/>
          </a:ln>
        </p:spPr>
        <p:txBody>
          <a:bodyPr anchorCtr="0" anchor="ctr" bIns="34275" lIns="68575" spcFirstLastPara="1" rIns="68575" wrap="square" tIns="34275">
            <a:normAutofit fontScale="70000" lnSpcReduction="20000"/>
          </a:bodyPr>
          <a:lstStyle/>
          <a:p>
            <a:pPr indent="0" lvl="0" marL="0" rtl="0" algn="l">
              <a:lnSpc>
                <a:spcPct val="90000"/>
              </a:lnSpc>
              <a:spcBef>
                <a:spcPts val="0"/>
              </a:spcBef>
              <a:spcAft>
                <a:spcPts val="0"/>
              </a:spcAft>
              <a:buClr>
                <a:schemeClr val="dk1"/>
              </a:buClr>
              <a:buSzPct val="100000"/>
              <a:buNone/>
            </a:pPr>
            <a:r>
              <a:rPr b="1" lang="en"/>
              <a:t>Observations</a:t>
            </a:r>
            <a:br>
              <a:rPr lang="en"/>
            </a:br>
            <a:endParaRPr/>
          </a:p>
          <a:p>
            <a:pPr indent="-182245" lvl="0" marL="177800" rtl="0" algn="l">
              <a:lnSpc>
                <a:spcPct val="90000"/>
              </a:lnSpc>
              <a:spcBef>
                <a:spcPts val="800"/>
              </a:spcBef>
              <a:spcAft>
                <a:spcPts val="0"/>
              </a:spcAft>
              <a:buClr>
                <a:schemeClr val="dk1"/>
              </a:buClr>
              <a:buSzPct val="100000"/>
              <a:buChar char="•"/>
            </a:pPr>
            <a:r>
              <a:rPr lang="en"/>
              <a:t>The dataset is </a:t>
            </a:r>
            <a:r>
              <a:rPr b="1" lang="en"/>
              <a:t>highly imbalanced</a:t>
            </a:r>
            <a:r>
              <a:rPr lang="en"/>
              <a:t>, with very few fraud cases.</a:t>
            </a:r>
            <a:endParaRPr/>
          </a:p>
          <a:p>
            <a:pPr indent="-182245" lvl="0" marL="177800" rtl="0" algn="l">
              <a:lnSpc>
                <a:spcPct val="90000"/>
              </a:lnSpc>
              <a:spcBef>
                <a:spcPts val="800"/>
              </a:spcBef>
              <a:spcAft>
                <a:spcPts val="0"/>
              </a:spcAft>
              <a:buClr>
                <a:schemeClr val="dk1"/>
              </a:buClr>
              <a:buSzPct val="100000"/>
              <a:buChar char="•"/>
            </a:pPr>
            <a:r>
              <a:rPr lang="en"/>
              <a:t>Random Forest helped identify </a:t>
            </a:r>
            <a:r>
              <a:rPr b="1" lang="en"/>
              <a:t>patterns associated with fraudulent transactions</a:t>
            </a:r>
            <a:r>
              <a:rPr lang="en"/>
              <a:t>.</a:t>
            </a:r>
            <a:endParaRPr/>
          </a:p>
          <a:p>
            <a:pPr indent="-182245" lvl="0" marL="177800" rtl="0" algn="l">
              <a:lnSpc>
                <a:spcPct val="90000"/>
              </a:lnSpc>
              <a:spcBef>
                <a:spcPts val="800"/>
              </a:spcBef>
              <a:spcAft>
                <a:spcPts val="0"/>
              </a:spcAft>
              <a:buClr>
                <a:schemeClr val="dk1"/>
              </a:buClr>
              <a:buSzPct val="100000"/>
              <a:buChar char="•"/>
            </a:pPr>
            <a:r>
              <a:rPr lang="en"/>
              <a:t>The model was evaluated using </a:t>
            </a:r>
            <a:r>
              <a:rPr b="1" lang="en"/>
              <a:t>precision, recall, and F1-score</a:t>
            </a:r>
            <a:r>
              <a:rPr lang="en"/>
              <a:t>.</a:t>
            </a:r>
            <a:endParaRPr/>
          </a:p>
          <a:p>
            <a:pPr indent="0" lvl="0" marL="0" rtl="0" algn="l">
              <a:lnSpc>
                <a:spcPct val="90000"/>
              </a:lnSpc>
              <a:spcBef>
                <a:spcPts val="800"/>
              </a:spcBef>
              <a:spcAft>
                <a:spcPts val="0"/>
              </a:spcAft>
              <a:buClr>
                <a:schemeClr val="dk1"/>
              </a:buClr>
              <a:buSzPct val="100000"/>
              <a:buNone/>
            </a:pPr>
            <a:r>
              <a:t/>
            </a:r>
            <a:endParaRPr b="1"/>
          </a:p>
          <a:p>
            <a:pPr indent="0" lvl="0" marL="0" rtl="0" algn="l">
              <a:lnSpc>
                <a:spcPct val="90000"/>
              </a:lnSpc>
              <a:spcBef>
                <a:spcPts val="800"/>
              </a:spcBef>
              <a:spcAft>
                <a:spcPts val="0"/>
              </a:spcAft>
              <a:buClr>
                <a:schemeClr val="dk1"/>
              </a:buClr>
              <a:buSzPct val="100000"/>
              <a:buNone/>
            </a:pPr>
            <a:r>
              <a:rPr b="1" lang="en"/>
              <a:t>Challenges</a:t>
            </a:r>
            <a:br>
              <a:rPr lang="en"/>
            </a:br>
            <a:endParaRPr/>
          </a:p>
          <a:p>
            <a:pPr indent="-182245" lvl="0" marL="177800" rtl="0" algn="l">
              <a:lnSpc>
                <a:spcPct val="90000"/>
              </a:lnSpc>
              <a:spcBef>
                <a:spcPts val="800"/>
              </a:spcBef>
              <a:spcAft>
                <a:spcPts val="0"/>
              </a:spcAft>
              <a:buClr>
                <a:schemeClr val="dk1"/>
              </a:buClr>
              <a:buSzPct val="100000"/>
              <a:buChar char="•"/>
            </a:pPr>
            <a:r>
              <a:rPr b="1" lang="en"/>
              <a:t>Class imbalance</a:t>
            </a:r>
            <a:r>
              <a:rPr lang="en"/>
              <a:t> makes fraud detection difficult.</a:t>
            </a:r>
            <a:endParaRPr/>
          </a:p>
          <a:p>
            <a:pPr indent="-182245" lvl="0" marL="177800" rtl="0" algn="l">
              <a:lnSpc>
                <a:spcPct val="90000"/>
              </a:lnSpc>
              <a:spcBef>
                <a:spcPts val="800"/>
              </a:spcBef>
              <a:spcAft>
                <a:spcPts val="0"/>
              </a:spcAft>
              <a:buClr>
                <a:schemeClr val="dk1"/>
              </a:buClr>
              <a:buSzPct val="100000"/>
              <a:buChar char="•"/>
            </a:pPr>
            <a:r>
              <a:rPr lang="en"/>
              <a:t>High risk of </a:t>
            </a:r>
            <a:r>
              <a:rPr b="1" lang="en"/>
              <a:t>false negatives (missing fraud cases)</a:t>
            </a:r>
            <a:r>
              <a:rPr lang="en"/>
              <a:t>.</a:t>
            </a:r>
            <a:endParaRPr/>
          </a:p>
          <a:p>
            <a:pPr indent="-182245" lvl="0" marL="177800" rtl="0" algn="l">
              <a:lnSpc>
                <a:spcPct val="90000"/>
              </a:lnSpc>
              <a:spcBef>
                <a:spcPts val="800"/>
              </a:spcBef>
              <a:spcAft>
                <a:spcPts val="0"/>
              </a:spcAft>
              <a:buClr>
                <a:schemeClr val="dk1"/>
              </a:buClr>
              <a:buSzPct val="100000"/>
              <a:buChar char="•"/>
            </a:pPr>
            <a:r>
              <a:rPr lang="en"/>
              <a:t>Accuracy alone is not sufficient; </a:t>
            </a:r>
            <a:r>
              <a:rPr b="1" lang="en"/>
              <a:t>recall and precision are more important</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