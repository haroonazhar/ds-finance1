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5" r:id="rId4"/>
    <p:sldId id="258" r:id="rId5"/>
    <p:sldId id="261" r:id="rId6"/>
    <p:sldId id="262" r:id="rId7"/>
    <p:sldId id="267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F5993-65BB-4492-9E29-E74F5B291DFA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AAE2B-6B0A-43AC-A2FD-8772EC0C7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BV: </a:t>
            </a:r>
            <a:r>
              <a:rPr lang="en-US" sz="1200" i="0" dirty="0">
                <a:effectLst/>
              </a:rPr>
              <a:t>Scalable system adaptable to evolving fraud patterns using ongoing model retraining.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AAE2B-6B0A-43AC-A2FD-8772EC0C76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84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AAE2B-6B0A-43AC-A2FD-8772EC0C76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3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79D4-6E79-A282-AD51-93F46F6DA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502AA-30DC-F012-2E64-E6BE17693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29134-A856-9C90-6AFE-DCE4E58D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67709-CFE8-B2FD-CBF8-081E9B15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C2F35-E2C6-A051-ECAD-C0DB2B3F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0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3A43-673C-A39E-E27B-C073AB10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5129F-E8D1-7980-1422-007C3C4F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1A53A-C669-58B9-4E1D-29E400C7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D0884-7A20-C7E3-61FE-44053377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DAD1E-3404-5E28-E5CB-285020C3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2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46DE-EE44-CDD1-D2C7-A43303D19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D7F60-D50A-2BC4-335B-C7EC295E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1A0A8-0C60-2FDA-1DDD-1F4391BA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A1F65-537C-1CE8-8895-23D1AC9E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A88A7-05E3-FEB5-EED6-87D4E804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6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2C0A-82C4-E614-CABC-47928AF1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D28A8-CABB-C710-BBA2-57812AD6C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1619B-E7CF-B6D2-89B0-8170842C6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957BE-8579-A173-E5D2-19D613A9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29F33-4B98-8FD1-EDEC-4DD41329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F35E1-3B40-3BB9-0D35-5D7CC172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306A-0648-D73E-24BC-DBDBE794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D5BD-CB3A-5A39-7DC5-A839BE1B6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5805B-78DB-1E3B-00DC-EC7E77E3F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AA28A-B4C9-78C6-11BE-7AB8F3BAF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CEC0A-0E86-53A9-1EBC-75714C902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1EAB7-93CB-221B-4640-943FF80C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C5F8A-C0D6-E0CB-28D8-00883F765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2B44D-2C90-BD97-B79E-92365DDB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E48C5-C043-1E57-00A2-00CD26D9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0729A-1883-03B3-04DE-6E84FCC7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87534-2386-2CA8-3C34-BBEFDBAC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F7968-E2DD-9625-758F-8F888597C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0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764CF-8E18-49FE-4E2A-41505C0C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E9CEB-C299-9CEC-25F5-27566AA3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C2E4E-4D6A-F6CB-89CE-3AC9ECBE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3BF5-A94B-6F56-CC7F-1814445E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6FA56-5D06-B8DE-6BD2-DCF66A092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D7170-C905-88D0-43CA-0175B5313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EAC65-3789-B611-87C6-119203E5B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76EA8-1859-7EF5-FA40-8CFCA5AE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951D1-EFB5-96E5-8629-24BABACB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45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36CB-FD03-BA1D-7209-930382C8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BCE3B-DEE2-FC05-1B6A-3222AC75B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877F7-5439-215D-B014-F57116AEE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D43B3-BB03-758D-BFEA-573757A93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52E25-19D7-424F-2D69-3B7C9E70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E0DFA-467C-7F1E-034F-7CFB9079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3A12-D698-A716-01A6-55ACCECE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40B8A-1D8C-75C3-FACD-CA2499720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FA41A-4660-6DD5-A62D-CD3F8D392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16702-D260-8A8F-B4DD-417AA93E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44199-2353-E4E2-47CD-106A9C16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1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733ACC-D46E-2E4B-7935-6DE4E1386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83E6D-0A9B-783F-A3CB-CECB14B69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2C3C6-FD23-7BEE-0689-36DDF34A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06439-10EB-E6CE-19AE-A1DF4322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4244-15E2-648E-52DD-29CAE80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0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5D8F15-2ED9-B0F7-D255-74A02E1A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45765-863E-98D7-B29F-1560D4023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99F4B-B329-B709-8DCE-BE4D42BD0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DE21B-24CB-4D83-BE2F-9CD228EF8099}" type="datetimeFigureOut">
              <a:rPr lang="en-US" smtClean="0"/>
              <a:t>05-Mar-2026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31D61-B690-B66E-EAFB-BE0281DF0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60E89-DEB1-070A-6AAD-24AEB6372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9BD2A-526C-44EF-89B2-76DE0E24B5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6B57B-7AB4-8B00-8A5E-8785003B39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46750" y="6642100"/>
            <a:ext cx="7239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OLG Internal</a:t>
            </a:r>
          </a:p>
        </p:txBody>
      </p:sp>
    </p:spTree>
    <p:extLst>
      <p:ext uri="{BB962C8B-B14F-4D97-AF65-F5344CB8AC3E}">
        <p14:creationId xmlns:p14="http://schemas.microsoft.com/office/powerpoint/2010/main" val="17169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9A600-3211-D317-AE8A-F815C17F9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Credit Card Fraud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D9799-33A3-33E7-75BD-AAA5D768E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Data Science 1 Team: Haroon Azhar Khan, Jyoti Shukla, Raghavendra Uppilisrinivasan, Purushottam Kumar, Baruni Prabaharan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48949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A1A3F-A808-8E4C-947E-608EFF7D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B9AD9-E688-0F05-D6DF-E4B6DE00B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Executive 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E1F8B-B3FE-1B06-BB6F-FFAFE186A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2880104"/>
            <a:ext cx="9724031" cy="3683358"/>
          </a:xfrm>
        </p:spPr>
        <p:txBody>
          <a:bodyPr anchor="ctr">
            <a:noAutofit/>
          </a:bodyPr>
          <a:lstStyle/>
          <a:p>
            <a:pPr fontAlgn="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i="0" dirty="0">
                <a:effectLst/>
              </a:rPr>
              <a:t>Business Context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i="0" dirty="0">
                <a:effectLst/>
              </a:rPr>
              <a:t>Corporate credit card fraud results in avoidable financial losses, delayed reimbursement cycles, and added operational burden.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Manual review is reactive, inconsistent, and not scalable as transaction volumes grow.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i="0" dirty="0">
                <a:effectLst/>
              </a:rPr>
              <a:t>Business Value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i="0" dirty="0">
                <a:effectLst/>
              </a:rPr>
              <a:t>Reduce reimbursement of fraudulent charges before they impact financial statements.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i="0" dirty="0">
                <a:effectLst/>
              </a:rPr>
              <a:t>Accelerate compliance review with automated triaging of suspicious activity.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i="0" dirty="0">
                <a:effectLst/>
              </a:rPr>
              <a:t>Improve audit readiness through consistent, data‑driven fraud detection.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dirty="0"/>
              <a:t>What We Did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Analyzed the Kaggle Credit Card Fraud dataset to replicate corporate card behaviors.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Conducted exploratory data analysis (EDA) and built three machine learning models: K‑Nearest Neighbors (KNN), Logistic Regression, Random Forest Classifier</a:t>
            </a:r>
          </a:p>
          <a:p>
            <a:pPr marL="0" indent="0" fontAlgn="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dirty="0"/>
              <a:t>Key Findings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Fraud cases are extremely rare (&lt;0.2%), requiring models optimized for precision + recall, not accuracy.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Random Forest outperformed others, offering: </a:t>
            </a:r>
          </a:p>
          <a:p>
            <a:pPr lvl="1"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Strong ability to detect subtle fraud patterns</a:t>
            </a:r>
          </a:p>
          <a:p>
            <a:pPr lvl="1"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High interpretability through feature importance</a:t>
            </a:r>
          </a:p>
          <a:p>
            <a:pPr lvl="1" fontAlgn="t"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Robustness to noise and imbalanced data</a:t>
            </a:r>
            <a:endParaRPr lang="en-US" sz="1200" b="1" dirty="0"/>
          </a:p>
          <a:p>
            <a:pPr fontAlgn="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i="0" dirty="0">
                <a:effectLst/>
              </a:rPr>
              <a:t>Recommendation</a:t>
            </a:r>
          </a:p>
          <a:p>
            <a:pPr fontAlgn="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i="0" dirty="0">
                <a:effectLst/>
              </a:rPr>
              <a:t>Proceed with a pilot deployment of the Random Forest model integrated into the reimbursement workflow to auto‑score transactions, surface high‑risk items to reviewers</a:t>
            </a:r>
            <a:r>
              <a:rPr lang="en-US" sz="1200" dirty="0"/>
              <a:t>.</a:t>
            </a:r>
            <a:endParaRPr lang="en-US" sz="1200" i="0" dirty="0">
              <a:effectLst/>
            </a:endParaRPr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endParaRPr lang="en-US" sz="1200" dirty="0"/>
          </a:p>
          <a:p>
            <a:pPr fontAlgn="t">
              <a:spcBef>
                <a:spcPts val="0"/>
              </a:spcBef>
              <a:spcAft>
                <a:spcPts val="600"/>
              </a:spcAft>
            </a:pPr>
            <a:endParaRPr lang="en-US" sz="1200" dirty="0"/>
          </a:p>
          <a:p>
            <a:pPr marL="742950" lvl="1" indent="-285750" fontAlgn="t">
              <a:spcBef>
                <a:spcPts val="0"/>
              </a:spcBef>
              <a:spcAft>
                <a:spcPts val="600"/>
              </a:spcAft>
            </a:pPr>
            <a:endParaRPr lang="en-US" sz="1200" i="0" dirty="0">
              <a:effectLst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4110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DAF17-DB78-0D99-4B8E-25F679575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4ECC0-22E7-7871-DB64-FD267C5C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EDA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B1E41-77B1-2EC2-51DD-AA722017B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Haroon</a:t>
            </a:r>
          </a:p>
        </p:txBody>
      </p:sp>
    </p:spTree>
    <p:extLst>
      <p:ext uri="{BB962C8B-B14F-4D97-AF65-F5344CB8AC3E}">
        <p14:creationId xmlns:p14="http://schemas.microsoft.com/office/powerpoint/2010/main" val="120755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46433-50D4-8CE2-8104-8A75A9E4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KNN –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C1BCF-A157-D6E4-8E25-F6EEFE100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2040683"/>
            <a:ext cx="4765949" cy="3353476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dataset is highly imbalanced, with fraud cases representing a very small percentage of total transactions. Therefore, evaluation metrics such as recall, precision, F1-score, and ROC-AUC are more meaningful than accuracy.</a:t>
            </a:r>
            <a:br>
              <a:rPr lang="en-US" sz="1400" dirty="0">
                <a:solidFill>
                  <a:schemeClr val="tx2"/>
                </a:solidFill>
              </a:rPr>
            </a:b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b="1" dirty="0">
                <a:solidFill>
                  <a:schemeClr val="tx2"/>
                </a:solidFill>
              </a:rPr>
              <a:t>Evaluation Matrix Observation: </a:t>
            </a:r>
            <a:endParaRPr lang="en-US" sz="1400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Recall: 0.8469 - High: This means that the model correctly identifies 84.69% of the actual fraud cases. </a:t>
            </a:r>
          </a:p>
          <a:p>
            <a:r>
              <a:rPr lang="en-US" sz="1400" dirty="0">
                <a:solidFill>
                  <a:schemeClr val="tx2"/>
                </a:solidFill>
              </a:rPr>
              <a:t>Precision: 0.5461 - Low: This means that only 54.61% of the predicted fraud cases are actually fraud. This indicates a high false positive rate, which is common in imbalanced datasets. </a:t>
            </a:r>
          </a:p>
          <a:p>
            <a:r>
              <a:rPr lang="en-US" sz="1400" dirty="0">
                <a:solidFill>
                  <a:schemeClr val="tx2"/>
                </a:solidFill>
              </a:rPr>
              <a:t>F1-Score: 0.6678 - This is the harmonic mean of precision and recall, indicating a balance between the two. </a:t>
            </a:r>
          </a:p>
          <a:p>
            <a:r>
              <a:rPr lang="en-US" sz="1400" dirty="0">
                <a:solidFill>
                  <a:schemeClr val="tx2"/>
                </a:solidFill>
              </a:rPr>
              <a:t>ROC AUC: 0.9205 - This indicates that the model has a good ability to distinguish between the classes, with a score of 0.9205 suggesting strong performance.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Error">
            <a:extLst>
              <a:ext uri="{FF2B5EF4-FFF2-40B4-BE49-F238E27FC236}">
                <a16:creationId xmlns:a16="http://schemas.microsoft.com/office/drawing/2014/main" id="{BEA7D612-9F42-EC01-E9CF-B050BD39B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7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A9018-A453-9FF6-5A06-9C54A773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70A08-8C81-A816-CABC-BED8590A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Logistic Regression –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E07CB-725A-4458-1275-6AA410365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The Feature importance from Logistic Regression aligns with Box Whisker Plots in Exploratory Analysis.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We have used 'balanced' class weight in Logistic Regression Model &amp; Stratified sampling to address class imbalance.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The Model's sensitivity/ Recall in fraud detection is about 88% , meaning the model still can produce False negatives that can be improved by either increasing the Fraudulent training data set and using methods like cross validation.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50BD388-792D-88D1-F108-E9B85CD01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109613"/>
            <a:ext cx="4142232" cy="3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8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E5688-BB30-122F-9638-477EE5B6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FFF71A-F93B-1F34-0222-E7A61ACF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Random Forest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7CFEF-8388-B68F-B5E0-52045C445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 Overview</a:t>
            </a:r>
            <a:br>
              <a:rPr lang="en-US" sz="1700" dirty="0">
                <a:solidFill>
                  <a:schemeClr val="tx2"/>
                </a:solidFill>
              </a:rPr>
            </a:br>
            <a:endParaRPr lang="en-US" sz="1700" dirty="0">
              <a:solidFill>
                <a:schemeClr val="tx2"/>
              </a:solidFill>
            </a:endParaRPr>
          </a:p>
          <a:p>
            <a:r>
              <a:rPr lang="en-US" sz="1700" dirty="0">
                <a:solidFill>
                  <a:schemeClr val="tx2"/>
                </a:solidFill>
              </a:rPr>
              <a:t>Implemented a </a:t>
            </a:r>
            <a:r>
              <a:rPr lang="en-US" sz="1700" b="1" dirty="0">
                <a:solidFill>
                  <a:schemeClr val="tx2"/>
                </a:solidFill>
              </a:rPr>
              <a:t>Random Forest Classifier</a:t>
            </a:r>
            <a:r>
              <a:rPr lang="en-US" sz="1700" dirty="0">
                <a:solidFill>
                  <a:schemeClr val="tx2"/>
                </a:solidFill>
              </a:rPr>
              <a:t> to detect fraudulent credit card transactions.</a:t>
            </a:r>
          </a:p>
          <a:p>
            <a:r>
              <a:rPr lang="en-US" sz="1700" dirty="0">
                <a:solidFill>
                  <a:schemeClr val="tx2"/>
                </a:solidFill>
              </a:rPr>
              <a:t>Random Forest combines </a:t>
            </a:r>
            <a:r>
              <a:rPr lang="en-US" sz="1700" b="1" dirty="0">
                <a:solidFill>
                  <a:schemeClr val="tx2"/>
                </a:solidFill>
              </a:rPr>
              <a:t>multiple decision trees</a:t>
            </a:r>
            <a:r>
              <a:rPr lang="en-US" sz="1700" dirty="0">
                <a:solidFill>
                  <a:schemeClr val="tx2"/>
                </a:solidFill>
              </a:rPr>
              <a:t> to improve prediction accuracy.</a:t>
            </a:r>
          </a:p>
          <a:p>
            <a:r>
              <a:rPr lang="en-US" sz="1700" dirty="0">
                <a:solidFill>
                  <a:schemeClr val="tx2"/>
                </a:solidFill>
              </a:rPr>
              <a:t>Each tree learns different patterns from the data and the final prediction is based on majority voting.</a:t>
            </a:r>
          </a:p>
          <a:p>
            <a:pPr marL="0" indent="0">
              <a:buNone/>
            </a:pP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Random Forest</a:t>
            </a:r>
            <a:br>
              <a:rPr lang="en-US" sz="1700" dirty="0">
                <a:solidFill>
                  <a:schemeClr val="tx2"/>
                </a:solidFill>
              </a:rPr>
            </a:br>
            <a:endParaRPr lang="en-US" sz="1700" dirty="0">
              <a:solidFill>
                <a:schemeClr val="tx2"/>
              </a:solidFill>
            </a:endParaRPr>
          </a:p>
          <a:p>
            <a:r>
              <a:rPr lang="en-US" sz="1700" dirty="0">
                <a:solidFill>
                  <a:schemeClr val="tx2"/>
                </a:solidFill>
              </a:rPr>
              <a:t>Handles </a:t>
            </a:r>
            <a:r>
              <a:rPr lang="en-US" sz="1700" b="1" dirty="0">
                <a:solidFill>
                  <a:schemeClr val="tx2"/>
                </a:solidFill>
              </a:rPr>
              <a:t>large datasets and complex patterns</a:t>
            </a:r>
            <a:r>
              <a:rPr lang="en-US" sz="1700" dirty="0">
                <a:solidFill>
                  <a:schemeClr val="tx2"/>
                </a:solidFill>
              </a:rPr>
              <a:t> effectively.</a:t>
            </a:r>
          </a:p>
          <a:p>
            <a:r>
              <a:rPr lang="en-US" sz="1700" dirty="0">
                <a:solidFill>
                  <a:schemeClr val="tx2"/>
                </a:solidFill>
              </a:rPr>
              <a:t>Reduces </a:t>
            </a:r>
            <a:r>
              <a:rPr lang="en-US" sz="1700" b="1" dirty="0">
                <a:solidFill>
                  <a:schemeClr val="tx2"/>
                </a:solidFill>
              </a:rPr>
              <a:t>overfitting compared to a single decision tree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</a:p>
          <a:p>
            <a:r>
              <a:rPr lang="en-US" sz="1700" dirty="0">
                <a:solidFill>
                  <a:schemeClr val="tx2"/>
                </a:solidFill>
              </a:rPr>
              <a:t>Works well with </a:t>
            </a:r>
            <a:r>
              <a:rPr lang="en-US" sz="1700" b="1" dirty="0">
                <a:solidFill>
                  <a:schemeClr val="tx2"/>
                </a:solidFill>
              </a:rPr>
              <a:t>high-dimensional data</a:t>
            </a:r>
            <a:r>
              <a:rPr lang="en-US" sz="17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93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A7FCD-B64D-233E-8334-CB882794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06EE03-71C8-6752-46DF-C47FB63FA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717BF7-8168-C863-6BE5-0B82D3A71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F7399-4E6B-3044-EF0B-7D3725E1E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2F9DB6-0F5B-1326-19B4-3C292D079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41DF0B-48E4-36A8-AA3A-080969A443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D499CF-DBAC-AF33-5341-59A0262E2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84CA6A5-5C16-5246-0DCF-2212215B4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FDE247-BDC4-D19E-6C53-85BA0996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Random Forest – Evaluation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CEB856-A5F2-1BB6-2C3E-FC8C0EAA2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2200" y="809625"/>
            <a:ext cx="5221288" cy="52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9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FE6AD-BE93-CDF1-DA0C-4950D4BE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2EB8933-2F30-6379-E52E-1CD904C5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5173-C8B3-D851-4692-E77850F89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Observations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dataset is </a:t>
            </a:r>
            <a:r>
              <a:rPr lang="en-US" b="1" dirty="0"/>
              <a:t>highly imbalanced</a:t>
            </a:r>
            <a:r>
              <a:rPr lang="en-US" dirty="0"/>
              <a:t>, with very few fraud cases.</a:t>
            </a:r>
          </a:p>
          <a:p>
            <a:r>
              <a:rPr lang="en-US" dirty="0"/>
              <a:t>Random Forest helped identify </a:t>
            </a:r>
            <a:r>
              <a:rPr lang="en-US" b="1" dirty="0"/>
              <a:t>patterns associated with fraudulent transactions</a:t>
            </a:r>
            <a:r>
              <a:rPr lang="en-US" dirty="0"/>
              <a:t>.</a:t>
            </a:r>
          </a:p>
          <a:p>
            <a:r>
              <a:rPr lang="en-US" dirty="0"/>
              <a:t>The model was evaluated using </a:t>
            </a:r>
            <a:r>
              <a:rPr lang="en-US" b="1" dirty="0"/>
              <a:t>precision, recall, and F1-score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Challenges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Class imbalance</a:t>
            </a:r>
            <a:r>
              <a:rPr lang="en-US" dirty="0"/>
              <a:t> makes fraud detection difficult.</a:t>
            </a:r>
          </a:p>
          <a:p>
            <a:r>
              <a:rPr lang="en-US" dirty="0"/>
              <a:t>High risk of </a:t>
            </a:r>
            <a:r>
              <a:rPr lang="en-US" b="1" dirty="0"/>
              <a:t>false negatives (missing fraud cases)</a:t>
            </a:r>
            <a:r>
              <a:rPr lang="en-US" dirty="0"/>
              <a:t>.</a:t>
            </a:r>
          </a:p>
          <a:p>
            <a:r>
              <a:rPr lang="en-US" dirty="0"/>
              <a:t>Accuracy alone is not sufficient; </a:t>
            </a:r>
            <a:r>
              <a:rPr lang="en-US" b="1" dirty="0"/>
              <a:t>recall and precision are more important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575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619</Words>
  <Application>Microsoft Office PowerPoint</Application>
  <PresentationFormat>Widescreen</PresentationFormat>
  <Paragraphs>60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Credit Card Fraud Analysis</vt:lpstr>
      <vt:lpstr>Executive Summary </vt:lpstr>
      <vt:lpstr>EDA</vt:lpstr>
      <vt:lpstr>KNN – Key Takeaways</vt:lpstr>
      <vt:lpstr>Logistic Regression – Key Takeaways</vt:lpstr>
      <vt:lpstr>Random Forest - Overview</vt:lpstr>
      <vt:lpstr>Random Forest – Evaluation Metrics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Baruni Prabaharan</dc:creator>
  <cp:lastModifiedBy>Baruni Prabaharan</cp:lastModifiedBy>
  <cp:revision>5</cp:revision>
  <dcterms:created xsi:type="dcterms:W3CDTF">2026-03-05T22:59:36Z</dcterms:created>
  <dcterms:modified xsi:type="dcterms:W3CDTF">2026-03-06T00:07:18Z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406e7a-409c-4ca3-8010-170c8407fbac_Enabled">
    <vt:lpwstr>true</vt:lpwstr>
  </property>
  <property fmtid="{D5CDD505-2E9C-101B-9397-08002B2CF9AE}" pid="3" name="MSIP_Label_b7406e7a-409c-4ca3-8010-170c8407fbac_SetDate">
    <vt:lpwstr>2026-03-05T23:02:04Z</vt:lpwstr>
  </property>
  <property fmtid="{D5CDD505-2E9C-101B-9397-08002B2CF9AE}" pid="4" name="MSIP_Label_b7406e7a-409c-4ca3-8010-170c8407fbac_Method">
    <vt:lpwstr>Standard</vt:lpwstr>
  </property>
  <property fmtid="{D5CDD505-2E9C-101B-9397-08002B2CF9AE}" pid="5" name="MSIP_Label_b7406e7a-409c-4ca3-8010-170c8407fbac_Name">
    <vt:lpwstr>Internal (With Content Marking)</vt:lpwstr>
  </property>
  <property fmtid="{D5CDD505-2E9C-101B-9397-08002B2CF9AE}" pid="6" name="MSIP_Label_b7406e7a-409c-4ca3-8010-170c8407fbac_SiteId">
    <vt:lpwstr>f271d9b4-e54c-46e1-82bd-25d50afa3779</vt:lpwstr>
  </property>
  <property fmtid="{D5CDD505-2E9C-101B-9397-08002B2CF9AE}" pid="7" name="MSIP_Label_b7406e7a-409c-4ca3-8010-170c8407fbac_ActionId">
    <vt:lpwstr>4fec9239-b124-4679-b02f-b4453467415c</vt:lpwstr>
  </property>
  <property fmtid="{D5CDD505-2E9C-101B-9397-08002B2CF9AE}" pid="8" name="MSIP_Label_b7406e7a-409c-4ca3-8010-170c8407fbac_ContentBits">
    <vt:lpwstr>2</vt:lpwstr>
  </property>
  <property fmtid="{D5CDD505-2E9C-101B-9397-08002B2CF9AE}" pid="9" name="MSIP_Label_b7406e7a-409c-4ca3-8010-170c8407fbac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OLG Internal</vt:lpwstr>
  </property>
</Properties>
</file>